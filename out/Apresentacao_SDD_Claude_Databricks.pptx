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07560f2c5b4e37" /><Relationship Type="http://schemas.openxmlformats.org/officeDocument/2006/relationships/extended-properties" Target="/docProps/app.xml" Id="R84c03b206cf74501" /><Relationship Type="http://schemas.openxmlformats.org/officeDocument/2006/relationships/officeDocument" Target="/ppt/presentation.xml" Id="R6c92c45ea57c42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9cd2fdcba94d8b"/>
  </p:sldMasterIdLst>
  <p:notesMasterIdLst>
    <p:notesMasterId xmlns:r="http://schemas.openxmlformats.org/officeDocument/2006/relationships" r:id="Recfc103750d64536"/>
  </p:notesMasterIdLst>
  <p:sldIdLst>
    <p:sldId xmlns:r="http://schemas.openxmlformats.org/officeDocument/2006/relationships" id="256" r:id="R51d193ad1f2a4c8d"/>
    <p:sldId xmlns:r="http://schemas.openxmlformats.org/officeDocument/2006/relationships" id="257" r:id="R88479c451d474e0d"/>
    <p:sldId xmlns:r="http://schemas.openxmlformats.org/officeDocument/2006/relationships" id="258" r:id="R5859a06cfcce4ab4"/>
    <p:sldId xmlns:r="http://schemas.openxmlformats.org/officeDocument/2006/relationships" id="259" r:id="R39822e0ae8644ef3"/>
    <p:sldId xmlns:r="http://schemas.openxmlformats.org/officeDocument/2006/relationships" id="260" r:id="R0ceed24b44624866"/>
    <p:sldId xmlns:r="http://schemas.openxmlformats.org/officeDocument/2006/relationships" id="261" r:id="R0c6eeb1726a64d00"/>
    <p:sldId xmlns:r="http://schemas.openxmlformats.org/officeDocument/2006/relationships" id="262" r:id="Rc6b363bb1ca44c3c"/>
    <p:sldId xmlns:r="http://schemas.openxmlformats.org/officeDocument/2006/relationships" id="263" r:id="R01f654684f3347ad"/>
    <p:sldId xmlns:r="http://schemas.openxmlformats.org/officeDocument/2006/relationships" id="264" r:id="R6a3cd11d0d2f4d08"/>
    <p:sldId xmlns:r="http://schemas.openxmlformats.org/officeDocument/2006/relationships" id="265" r:id="R3cf2ae92f8334803"/>
    <p:sldId xmlns:r="http://schemas.openxmlformats.org/officeDocument/2006/relationships" id="266" r:id="R7e6049c3634f49b8"/>
    <p:sldId xmlns:r="http://schemas.openxmlformats.org/officeDocument/2006/relationships" id="267" r:id="Red48a19d0268497a"/>
    <p:sldId xmlns:r="http://schemas.openxmlformats.org/officeDocument/2006/relationships" id="268" r:id="R2d76eb4da6e94d6b"/>
    <p:sldId xmlns:r="http://schemas.openxmlformats.org/officeDocument/2006/relationships" id="269" r:id="R86e957aecc034bd9"/>
    <p:sldId xmlns:r="http://schemas.openxmlformats.org/officeDocument/2006/relationships" id="270" r:id="R58121ce666f54e31"/>
    <p:sldId xmlns:r="http://schemas.openxmlformats.org/officeDocument/2006/relationships" id="271" r:id="Rba22f6a859954fde"/>
    <p:sldId xmlns:r="http://schemas.openxmlformats.org/officeDocument/2006/relationships" id="272" r:id="R57393434283c43c7"/>
    <p:sldId xmlns:r="http://schemas.openxmlformats.org/officeDocument/2006/relationships" id="273" r:id="R1800caffbbd44c10"/>
    <p:sldId xmlns:r="http://schemas.openxmlformats.org/officeDocument/2006/relationships" id="274" r:id="Reaf814fec86846d4"/>
    <p:sldId xmlns:r="http://schemas.openxmlformats.org/officeDocument/2006/relationships" id="275" r:id="R4ef418004155436f"/>
    <p:sldId xmlns:r="http://schemas.openxmlformats.org/officeDocument/2006/relationships" id="276" r:id="Re0a2dddc85ea4946"/>
    <p:sldId xmlns:r="http://schemas.openxmlformats.org/officeDocument/2006/relationships" id="277" r:id="Rb2953c5fa8df4647"/>
    <p:sldId xmlns:r="http://schemas.openxmlformats.org/officeDocument/2006/relationships" id="278" r:id="Ree42bdab59024087"/>
    <p:sldId xmlns:r="http://schemas.openxmlformats.org/officeDocument/2006/relationships" id="279" r:id="Ra21d347794234787"/>
    <p:sldId xmlns:r="http://schemas.openxmlformats.org/officeDocument/2006/relationships" id="280" r:id="R8ca29f8376b3490a"/>
    <p:sldId xmlns:r="http://schemas.openxmlformats.org/officeDocument/2006/relationships" id="281" r:id="R1c2815c4b55b44b9"/>
    <p:sldId xmlns:r="http://schemas.openxmlformats.org/officeDocument/2006/relationships" id="282" r:id="R753c5cf3b3804440"/>
    <p:sldId xmlns:r="http://schemas.openxmlformats.org/officeDocument/2006/relationships" id="283" r:id="R1dabe57c3aba451a"/>
    <p:sldId xmlns:r="http://schemas.openxmlformats.org/officeDocument/2006/relationships" id="284" r:id="R73636d1a7b7e411c"/>
    <p:sldId xmlns:r="http://schemas.openxmlformats.org/officeDocument/2006/relationships" id="285" r:id="Re4c96a0224b448d7"/>
    <p:sldId xmlns:r="http://schemas.openxmlformats.org/officeDocument/2006/relationships" id="286" r:id="R8bc645780be14131"/>
    <p:sldId xmlns:r="http://schemas.openxmlformats.org/officeDocument/2006/relationships" id="287" r:id="R4fd6e25428084e6d"/>
    <p:sldId xmlns:r="http://schemas.openxmlformats.org/officeDocument/2006/relationships" id="288" r:id="R675e1a5a712a41c3"/>
    <p:sldId xmlns:r="http://schemas.openxmlformats.org/officeDocument/2006/relationships" id="289" r:id="R166c3c9770e94c7f"/>
    <p:sldId xmlns:r="http://schemas.openxmlformats.org/officeDocument/2006/relationships" id="290" r:id="Rfd9f83998d684d44"/>
    <p:sldId xmlns:r="http://schemas.openxmlformats.org/officeDocument/2006/relationships" id="291" r:id="R8521177d3d294263"/>
    <p:sldId xmlns:r="http://schemas.openxmlformats.org/officeDocument/2006/relationships" id="292" r:id="R7709c98b5e9b4703"/>
    <p:sldId xmlns:r="http://schemas.openxmlformats.org/officeDocument/2006/relationships" id="293" r:id="R8f1cc1ff59ca43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cd2fdcba94d8b" /><Relationship Type="http://schemas.openxmlformats.org/officeDocument/2006/relationships/theme" Target="/ppt/theme/theme1.xml" Id="R06d3af8fc634497a" /><Relationship Type="http://schemas.openxmlformats.org/officeDocument/2006/relationships/notesMaster" Target="/ppt/notesMasters/notesMaster1.xml" Id="Recfc103750d64536" /><Relationship Type="http://schemas.openxmlformats.org/officeDocument/2006/relationships/presProps" Target="/ppt/presProps.xml" Id="R42fd7c69b0ad4268" /><Relationship Type="http://schemas.openxmlformats.org/officeDocument/2006/relationships/viewProps" Target="/ppt/viewProps.xml" Id="R812c030d0ff44e31" /><Relationship Type="http://schemas.openxmlformats.org/officeDocument/2006/relationships/tableStyles" Target="/ppt/tableStyles.xml" Id="R21385849cca046b3" /><Relationship Type="http://schemas.openxmlformats.org/officeDocument/2006/relationships/slide" Target="/ppt/slides/slide1.xml" Id="R51d193ad1f2a4c8d" /><Relationship Type="http://schemas.openxmlformats.org/officeDocument/2006/relationships/slide" Target="/ppt/slides/slide2.xml" Id="R88479c451d474e0d" /><Relationship Type="http://schemas.openxmlformats.org/officeDocument/2006/relationships/slide" Target="/ppt/slides/slide3.xml" Id="R5859a06cfcce4ab4" /><Relationship Type="http://schemas.openxmlformats.org/officeDocument/2006/relationships/slide" Target="/ppt/slides/slide4.xml" Id="R39822e0ae8644ef3" /><Relationship Type="http://schemas.openxmlformats.org/officeDocument/2006/relationships/slide" Target="/ppt/slides/slide5.xml" Id="R0ceed24b44624866" /><Relationship Type="http://schemas.openxmlformats.org/officeDocument/2006/relationships/slide" Target="/ppt/slides/slide6.xml" Id="R0c6eeb1726a64d00" /><Relationship Type="http://schemas.openxmlformats.org/officeDocument/2006/relationships/slide" Target="/ppt/slides/slide7.xml" Id="Rc6b363bb1ca44c3c" /><Relationship Type="http://schemas.openxmlformats.org/officeDocument/2006/relationships/slide" Target="/ppt/slides/slide8.xml" Id="R01f654684f3347ad" /><Relationship Type="http://schemas.openxmlformats.org/officeDocument/2006/relationships/slide" Target="/ppt/slides/slide9.xml" Id="R6a3cd11d0d2f4d08" /><Relationship Type="http://schemas.openxmlformats.org/officeDocument/2006/relationships/slide" Target="/ppt/slides/slide10.xml" Id="R3cf2ae92f8334803" /><Relationship Type="http://schemas.openxmlformats.org/officeDocument/2006/relationships/slide" Target="/ppt/slides/slide11.xml" Id="R7e6049c3634f49b8" /><Relationship Type="http://schemas.openxmlformats.org/officeDocument/2006/relationships/slide" Target="/ppt/slides/slide12.xml" Id="Red48a19d0268497a" /><Relationship Type="http://schemas.openxmlformats.org/officeDocument/2006/relationships/slide" Target="/ppt/slides/slide13.xml" Id="R2d76eb4da6e94d6b" /><Relationship Type="http://schemas.openxmlformats.org/officeDocument/2006/relationships/slide" Target="/ppt/slides/slide14.xml" Id="R86e957aecc034bd9" /><Relationship Type="http://schemas.openxmlformats.org/officeDocument/2006/relationships/slide" Target="/ppt/slides/slide15.xml" Id="R58121ce666f54e31" /><Relationship Type="http://schemas.openxmlformats.org/officeDocument/2006/relationships/slide" Target="/ppt/slides/slide16.xml" Id="Rba22f6a859954fde" /><Relationship Type="http://schemas.openxmlformats.org/officeDocument/2006/relationships/slide" Target="/ppt/slides/slide17.xml" Id="R57393434283c43c7" /><Relationship Type="http://schemas.openxmlformats.org/officeDocument/2006/relationships/slide" Target="/ppt/slides/slide18.xml" Id="R1800caffbbd44c10" /><Relationship Type="http://schemas.openxmlformats.org/officeDocument/2006/relationships/slide" Target="/ppt/slides/slide19.xml" Id="Reaf814fec86846d4" /><Relationship Type="http://schemas.openxmlformats.org/officeDocument/2006/relationships/slide" Target="/ppt/slides/slide20.xml" Id="R4ef418004155436f" /><Relationship Type="http://schemas.openxmlformats.org/officeDocument/2006/relationships/slide" Target="/ppt/slides/slide21.xml" Id="Re0a2dddc85ea4946" /><Relationship Type="http://schemas.openxmlformats.org/officeDocument/2006/relationships/slide" Target="/ppt/slides/slide22.xml" Id="Rb2953c5fa8df4647" /><Relationship Type="http://schemas.openxmlformats.org/officeDocument/2006/relationships/slide" Target="/ppt/slides/slide23.xml" Id="Ree42bdab59024087" /><Relationship Type="http://schemas.openxmlformats.org/officeDocument/2006/relationships/slide" Target="/ppt/slides/slide24.xml" Id="Ra21d347794234787" /><Relationship Type="http://schemas.openxmlformats.org/officeDocument/2006/relationships/slide" Target="/ppt/slides/slide25.xml" Id="R8ca29f8376b3490a" /><Relationship Type="http://schemas.openxmlformats.org/officeDocument/2006/relationships/slide" Target="/ppt/slides/slide26.xml" Id="R1c2815c4b55b44b9" /><Relationship Type="http://schemas.openxmlformats.org/officeDocument/2006/relationships/slide" Target="/ppt/slides/slide27.xml" Id="R753c5cf3b3804440" /><Relationship Type="http://schemas.openxmlformats.org/officeDocument/2006/relationships/slide" Target="/ppt/slides/slide28.xml" Id="R1dabe57c3aba451a" /><Relationship Type="http://schemas.openxmlformats.org/officeDocument/2006/relationships/slide" Target="/ppt/slides/slide29.xml" Id="R73636d1a7b7e411c" /><Relationship Type="http://schemas.openxmlformats.org/officeDocument/2006/relationships/slide" Target="/ppt/slides/slide30.xml" Id="Re4c96a0224b448d7" /><Relationship Type="http://schemas.openxmlformats.org/officeDocument/2006/relationships/slide" Target="/ppt/slides/slide31.xml" Id="R8bc645780be14131" /><Relationship Type="http://schemas.openxmlformats.org/officeDocument/2006/relationships/slide" Target="/ppt/slides/slide32.xml" Id="R4fd6e25428084e6d" /><Relationship Type="http://schemas.openxmlformats.org/officeDocument/2006/relationships/slide" Target="/ppt/slides/slide33.xml" Id="R675e1a5a712a41c3" /><Relationship Type="http://schemas.openxmlformats.org/officeDocument/2006/relationships/slide" Target="/ppt/slides/slide34.xml" Id="R166c3c9770e94c7f" /><Relationship Type="http://schemas.openxmlformats.org/officeDocument/2006/relationships/slide" Target="/ppt/slides/slide35.xml" Id="Rfd9f83998d684d44" /><Relationship Type="http://schemas.openxmlformats.org/officeDocument/2006/relationships/slide" Target="/ppt/slides/slide36.xml" Id="R8521177d3d294263" /><Relationship Type="http://schemas.openxmlformats.org/officeDocument/2006/relationships/slide" Target="/ppt/slides/slide37.xml" Id="R7709c98b5e9b4703" /><Relationship Type="http://schemas.openxmlformats.org/officeDocument/2006/relationships/slide" Target="/ppt/slides/slide38.xml" Id="R8f1cc1ff59ca43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979d1a4776c47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beb7a2f6664c82" /><Relationship Type="http://schemas.openxmlformats.org/officeDocument/2006/relationships/notesMaster" Target="/ppt/notesMasters/notesMaster1.xml" Id="R04f487da29cc4d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47a7b1e8ae4ac0" /><Relationship Type="http://schemas.openxmlformats.org/officeDocument/2006/relationships/notesMaster" Target="/ppt/notesMasters/notesMaster1.xml" Id="Rbe86f0cb57e946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90f393141c4358" /><Relationship Type="http://schemas.openxmlformats.org/officeDocument/2006/relationships/notesMaster" Target="/ppt/notesMasters/notesMaster1.xml" Id="R25119e6b4e464f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54d3f02e3644a5" /><Relationship Type="http://schemas.openxmlformats.org/officeDocument/2006/relationships/notesMaster" Target="/ppt/notesMasters/notesMaster1.xml" Id="R907b5e91dd3843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607916e6a747bb" /><Relationship Type="http://schemas.openxmlformats.org/officeDocument/2006/relationships/notesMaster" Target="/ppt/notesMasters/notesMaster1.xml" Id="R2f7069cc7d1743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d14413681d4e1f" /><Relationship Type="http://schemas.openxmlformats.org/officeDocument/2006/relationships/notesMaster" Target="/ppt/notesMasters/notesMaster1.xml" Id="Rf17ccbdaa66f46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661967431a4081" /><Relationship Type="http://schemas.openxmlformats.org/officeDocument/2006/relationships/notesMaster" Target="/ppt/notesMasters/notesMaster1.xml" Id="R3125b1fbc8564b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419d88b849413b" /><Relationship Type="http://schemas.openxmlformats.org/officeDocument/2006/relationships/notesMaster" Target="/ppt/notesMasters/notesMaster1.xml" Id="R5ae8d555b6ad49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1683509ba84360" /><Relationship Type="http://schemas.openxmlformats.org/officeDocument/2006/relationships/notesMaster" Target="/ppt/notesMasters/notesMaster1.xml" Id="Rad83993b694741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72e2b4e0a343b3" /><Relationship Type="http://schemas.openxmlformats.org/officeDocument/2006/relationships/notesMaster" Target="/ppt/notesMasters/notesMaster1.xml" Id="Rd24e0335e1f14e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f4c21d58bf4d80" /><Relationship Type="http://schemas.openxmlformats.org/officeDocument/2006/relationships/notesMaster" Target="/ppt/notesMasters/notesMaster1.xml" Id="Rfe199a7f59d045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1cfc0db827412e" /><Relationship Type="http://schemas.openxmlformats.org/officeDocument/2006/relationships/notesMaster" Target="/ppt/notesMasters/notesMaster1.xml" Id="Rde20fe7d4eb046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dccfd2ac0d40bc" /><Relationship Type="http://schemas.openxmlformats.org/officeDocument/2006/relationships/notesMaster" Target="/ppt/notesMasters/notesMaster1.xml" Id="Rb684d7d7f77c4c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e959b373d14ff9" /><Relationship Type="http://schemas.openxmlformats.org/officeDocument/2006/relationships/notesMaster" Target="/ppt/notesMasters/notesMaster1.xml" Id="R212edf6de9bc4e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7f0159cf944f27" /><Relationship Type="http://schemas.openxmlformats.org/officeDocument/2006/relationships/notesMaster" Target="/ppt/notesMasters/notesMaster1.xml" Id="R972de1e649514e3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0032e679a3e4322" /><Relationship Type="http://schemas.openxmlformats.org/officeDocument/2006/relationships/notesMaster" Target="/ppt/notesMasters/notesMaster1.xml" Id="Rad3c14cc7380402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5419461539a47c6" /><Relationship Type="http://schemas.openxmlformats.org/officeDocument/2006/relationships/notesMaster" Target="/ppt/notesMasters/notesMaster1.xml" Id="R42ffa51e892e43d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73034fd89634808" /><Relationship Type="http://schemas.openxmlformats.org/officeDocument/2006/relationships/notesMaster" Target="/ppt/notesMasters/notesMaster1.xml" Id="Rcf35c94e61834c3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e002acacc724060" /><Relationship Type="http://schemas.openxmlformats.org/officeDocument/2006/relationships/notesMaster" Target="/ppt/notesMasters/notesMaster1.xml" Id="R7649173e3bdc4db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cce7e90237542f9" /><Relationship Type="http://schemas.openxmlformats.org/officeDocument/2006/relationships/notesMaster" Target="/ppt/notesMasters/notesMaster1.xml" Id="Ra174a3b5d0274f6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f2a9277b5fa4516" /><Relationship Type="http://schemas.openxmlformats.org/officeDocument/2006/relationships/notesMaster" Target="/ppt/notesMasters/notesMaster1.xml" Id="R9984cd4e445a469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f5f197ceb004b82" /><Relationship Type="http://schemas.openxmlformats.org/officeDocument/2006/relationships/notesMaster" Target="/ppt/notesMasters/notesMaster1.xml" Id="Rdf4cf34b352244b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c97f7dfa31140af" /><Relationship Type="http://schemas.openxmlformats.org/officeDocument/2006/relationships/notesMaster" Target="/ppt/notesMasters/notesMaster1.xml" Id="Rec3c05f757ea42b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3751ee72c994d28" /><Relationship Type="http://schemas.openxmlformats.org/officeDocument/2006/relationships/notesMaster" Target="/ppt/notesMasters/notesMaster1.xml" Id="R2d71d7755190498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1d6f518fadc4ae5" /><Relationship Type="http://schemas.openxmlformats.org/officeDocument/2006/relationships/notesMaster" Target="/ppt/notesMasters/notesMaster1.xml" Id="Rbde9e0459c24414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64bffa87aad437c" /><Relationship Type="http://schemas.openxmlformats.org/officeDocument/2006/relationships/notesMaster" Target="/ppt/notesMasters/notesMaster1.xml" Id="R8f72e33e77544c3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cc3666076c04628" /><Relationship Type="http://schemas.openxmlformats.org/officeDocument/2006/relationships/notesMaster" Target="/ppt/notesMasters/notesMaster1.xml" Id="Rae793faba9eb403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cba24ed344442d0" /><Relationship Type="http://schemas.openxmlformats.org/officeDocument/2006/relationships/notesMaster" Target="/ppt/notesMasters/notesMaster1.xml" Id="R743f624757d04cd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67ee7671d8043ed" /><Relationship Type="http://schemas.openxmlformats.org/officeDocument/2006/relationships/notesMaster" Target="/ppt/notesMasters/notesMaster1.xml" Id="R33d11b3397ea4ad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496eb7d7ffb4d4e" /><Relationship Type="http://schemas.openxmlformats.org/officeDocument/2006/relationships/notesMaster" Target="/ppt/notesMasters/notesMaster1.xml" Id="R3336bf2a742b4a1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018eb6b55d946d2" /><Relationship Type="http://schemas.openxmlformats.org/officeDocument/2006/relationships/notesMaster" Target="/ppt/notesMasters/notesMaster1.xml" Id="R2e8d491655a84c0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0cd3e2186454d75" /><Relationship Type="http://schemas.openxmlformats.org/officeDocument/2006/relationships/notesMaster" Target="/ppt/notesMasters/notesMaster1.xml" Id="Rdc196d21c56f4bc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1573188928a4727" /><Relationship Type="http://schemas.openxmlformats.org/officeDocument/2006/relationships/notesMaster" Target="/ppt/notesMasters/notesMaster1.xml" Id="Rfbe6a02188094c7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2543c0ddf1d4ae6" /><Relationship Type="http://schemas.openxmlformats.org/officeDocument/2006/relationships/notesMaster" Target="/ppt/notesMasters/notesMaster1.xml" Id="Rcc9e82ceed544f2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b07777b3731426b" /><Relationship Type="http://schemas.openxmlformats.org/officeDocument/2006/relationships/notesMaster" Target="/ppt/notesMasters/notesMaster1.xml" Id="R433ea5c0643f43f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37dfc307c4646e6" /><Relationship Type="http://schemas.openxmlformats.org/officeDocument/2006/relationships/notesMaster" Target="/ppt/notesMasters/notesMaster1.xml" Id="R3ec1d898364b4dd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b48a6b171d34238" /><Relationship Type="http://schemas.openxmlformats.org/officeDocument/2006/relationships/notesMaster" Target="/ppt/notesMasters/notesMaster1.xml" Id="R33d4c830cdaa46d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36681e2af9e4d07" /><Relationship Type="http://schemas.openxmlformats.org/officeDocument/2006/relationships/notesMaster" Target="/ppt/notesMasters/notesMaster1.xml" Id="Ra1dd07046db74b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com a mensagem central: não estamos propondo IA sem controle. Estamos propondo um jeito mais disciplinado de especificar, implementar e operar mudanças de 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  <a:p xmlns:a="http://schemas.openxmlformats.org/drawingml/2006/main">
            <a:r>
              <a:t>- Anthropic Claude Code settings: https://docs.anthropic.com/en/docs/claude-code/settings</a:t>
            </a:r>
          </a:p>
          <a:p xmlns:a="http://schemas.openxmlformats.org/drawingml/2006/main">
            <a:r>
              <a:t>- Databricks Declarative Automation Bundles: https://docs.databricks.com/aws/en/dev-tools/bundles/</a:t>
            </a:r>
          </a:p>
          <a:p xmlns:a="http://schemas.openxmlformats.org/drawingml/2006/main">
            <a:r>
              <a:t>- Databricks Lakeflow Spark Declarative Pipelines: https://docs.databricks.com/aws/en/ldp/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de abertura para orientar o time antes de entrar nas sessões. Deixar claro que a reunião tem três grandes blocos e vai terminar com uma proposta concreta de piloto.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  <a:p xmlns:a="http://schemas.openxmlformats.org/drawingml/2006/main">
            <a:r>
              <a:t>- Databricks Declarative Automation Bundles: https://docs.databricks.com/aws/en/dev-tools/bundles/</a:t>
            </a:r>
          </a:p>
          <a:p xmlns:a="http://schemas.openxmlformats.org/drawingml/2006/main">
            <a:r>
              <a:t>- Databricks Lakeflow Spark Declarative Pipelines best practices: https://docs.databricks.com/aws/en/ldp/best-practices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este slide como transição entre a capa e o bloco de enquadramento. A ideia é mostrar que a conversa será separada por sessões bem definidas.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  <a:p xmlns:a="http://schemas.openxmlformats.org/drawingml/2006/main">
            <a:r>
              <a:t>- Databricks Declarative Automation Bundles: https://docs.databricks.com/aws/en/dev-tools/bundles/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com a dor real do time. O custo principal é cognitivo e operacional, não de digitação.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Databricks Lakeflow Spark Declarative Pipelines best practices: https://docs.databricks.com/aws/en/ldp/best-practices</a:t>
            </a:r>
          </a:p>
          <a:p xmlns:a="http://schemas.openxmlformats.org/drawingml/2006/main">
            <a:r>
              <a:t>- Databricks Unity Catalog lineage: https://docs.databricks.com/aws/en/data-governance/unity-catalog/data-lineage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Deixar claro que produtividade com IA em dados é multifase. Não é apenas geração de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  <a:p xmlns:a="http://schemas.openxmlformats.org/drawingml/2006/main">
            <a:r>
              <a:t>- Databricks Declarative Automation Bundles: https://docs.databricks.com/aws/en/dev-tools/bundles/</a:t>
            </a:r>
          </a:p>
          <a:p xmlns:a="http://schemas.openxmlformats.org/drawingml/2006/main">
            <a:r>
              <a:t>- Databricks Lakeflow Spark Declarative Pipelines best practices: https://docs.databricks.com/aws/en/ldp/best-practices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o bloco explicando que SDD é o mecanismo que estabiliza a conversa com a 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  <a:p xmlns:a="http://schemas.openxmlformats.org/drawingml/2006/main">
            <a:r>
              <a:t>- Databricks Declarative Automation Bundles: https://docs.databricks.com/aws/en/dev-tools/bundles/</a:t>
            </a:r>
          </a:p>
          <a:p xmlns:a="http://schemas.openxmlformats.org/drawingml/2006/main">
            <a:r>
              <a:t>- Databricks Lakeflow Spark Declarative Pipelines best practices: https://docs.databricks.com/aws/en/ldp/best-practices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Esse slide ancora o conceito antes de entrar no fluxo técnico. A spec não substitui a análise de requisitos — ela é o next step dela. O que o SDD propõe é formalizar esse segundo passo, que hoje quase sempre é pulado: o engenheiro recebe o resultado da análise (às vezes só uma conversa no Teams) e vai direto para o código, carregando toda a ambiguidade.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  <a:p xmlns:a="http://schemas.openxmlformats.org/drawingml/2006/main">
            <a:r>
              <a:t>- Databricks Declarative Automation Bundles: https://docs.databricks.com/aws/en/dev-tools/bundles/</a:t>
            </a:r>
          </a:p>
          <a:p xmlns:a="http://schemas.openxmlformats.org/drawingml/2006/main">
            <a:r>
              <a:t>- Databricks Lakeflow Spark Declarative Pipelines best practices: https://docs.databricks.com/aws/en/ldp/best-practices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SDD não elimina conversa. Ele faz a conversa produzir um artefato reutilizável e executável.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Databricks Declarative Automation Bundles: https://docs.databricks.com/aws/en/dev-tools/bundles/</a:t>
            </a:r>
          </a:p>
          <a:p xmlns:a="http://schemas.openxmlformats.org/drawingml/2006/main">
            <a:r>
              <a:t>- Databricks Lakeflow Spark Declarative Pipelines best practices: https://docs.databricks.com/aws/en/ldp/best-practices</a:t>
            </a:r>
          </a:p>
          <a:p xmlns:a="http://schemas.openxmlformats.org/drawingml/2006/main">
            <a:r>
              <a:t>- Databricks Lakeflow Spark Declarative Pipelines: https://docs.databricks.com/aws/en/ldp/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que a spec é simples, mas suficiente para reduzir ambiguidade.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Databricks Declarative Automation Bundles: https://docs.databricks.com/aws/en/dev-tools/bundles/</a:t>
            </a:r>
          </a:p>
          <a:p xmlns:a="http://schemas.openxmlformats.org/drawingml/2006/main">
            <a:r>
              <a:t>- Databricks Lakeflow Spark Declarative Pipelines: https://docs.databricks.com/aws/en/ldp/</a:t>
            </a:r>
          </a:p>
          <a:p xmlns:a="http://schemas.openxmlformats.org/drawingml/2006/main">
            <a:r>
              <a:t>- Databricks Lakeflow Spark Declarative Pipelines best practices: https://docs.databricks.com/aws/en/ldp/best-practices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Esse slide ajuda a vender SDD como mudança de processo, não apenas de ferramenta.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Databricks Declarative Automation Bundles: https://docs.databricks.com/aws/en/dev-tools/bundles/</a:t>
            </a:r>
          </a:p>
          <a:p xmlns:a="http://schemas.openxmlformats.org/drawingml/2006/main">
            <a:r>
              <a:t>- Databricks Lakeflow Spark Declarative Pipelines best practices: https://docs.databricks.com/aws/en/ldp/best-practices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Fazer a ligação entre SDD e prompting. A spec é o artefato que estabiliza a conversa.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  <a:p xmlns:a="http://schemas.openxmlformats.org/drawingml/2006/main">
            <a:r>
              <a:t>- Databricks Declarative Automation Bundles: https://docs.databricks.com/aws/en/dev-tools/bundles/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Esse separador prepara o público para a parte mais conceitual sobre memória persistente e organização do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  <a:p xmlns:a="http://schemas.openxmlformats.org/drawingml/2006/main">
            <a:r>
              <a:t>- Anthropic Claude Code settings: https://docs.anthropic.com/en/docs/claude-code/settings</a:t>
            </a:r>
          </a:p>
          <a:p xmlns:a="http://schemas.openxmlformats.org/drawingml/2006/main">
            <a:r>
              <a:t>- Anthropic Claude Code slash commands: https://docs.anthropic.com/en/docs/claude-code/slash-commands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também que /init ajuda a criar o CLAUDE.md do projeto, # grava memória rápida e @imports modularizam o arquivo.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  <a:p xmlns:a="http://schemas.openxmlformats.org/drawingml/2006/main">
            <a:r>
              <a:t>- Anthropic Claude Code settings: https://docs.anthropic.com/en/docs/claude-code/settings</a:t>
            </a:r>
          </a:p>
          <a:p xmlns:a="http://schemas.openxmlformats.org/drawingml/2006/main">
            <a:r>
              <a:t>- Anthropic Claude Code slash commands: https://docs.anthropic.com/en/docs/claude-code/slash-commands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Aqui vale mostrar o arquivo real que ficou nos artefatos de apoio.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  <a:p xmlns:a="http://schemas.openxmlformats.org/drawingml/2006/main">
            <a:r>
              <a:t>- Databricks Declarative Automation Bundles: https://docs.databricks.com/aws/en/dev-tools/bundles/</a:t>
            </a:r>
          </a:p>
          <a:p xmlns:a="http://schemas.openxmlformats.org/drawingml/2006/main">
            <a:r>
              <a:t>- Databricks Unity Catalog lineage: https://docs.databricks.com/aws/en/data-governance/unity-catalog/data-lineage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Mensagem chave: rules.md e memory.md não são obrigatórios do produto; são convenções úteis quando o time quer modularizar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  <a:p xmlns:a="http://schemas.openxmlformats.org/drawingml/2006/main">
            <a:r>
              <a:t>- Anthropic Claude Code slash commands: https://docs.anthropic.com/en/docs/claude-code/slash-commands</a:t>
            </a:r>
          </a:p>
          <a:p xmlns:a="http://schemas.openxmlformats.org/drawingml/2006/main">
            <a:r>
              <a:t>- Anthropic Claude Code subagents: https://docs.anthropic.com/en/docs/claude-code/sub-agents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Entrar nesta sessão reforçando que agente não é um prompt gigante; é uma unidade reutilizável de especialização.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subagents: https://docs.anthropic.com/en/docs/claude-code/sub-agents</a:t>
            </a:r>
          </a:p>
          <a:p xmlns:a="http://schemas.openxmlformats.org/drawingml/2006/main">
            <a:r>
              <a:t>- Anthropic Claude Code slash commands: https://docs.anthropic.com/en/docs/claude-code/slash-commands</a:t>
            </a:r>
          </a:p>
          <a:p xmlns:a="http://schemas.openxmlformats.org/drawingml/2006/main">
            <a:r>
              <a:t>- Anthropic Claude Code settings: https://docs.anthropic.com/en/docs/claude-code/settings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Referenciar /agents e reforçar que agentes reduzem ruído de contexto quando são bem focados.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subagents: https://docs.anthropic.com/en/docs/claude-code/sub-agents</a:t>
            </a:r>
          </a:p>
          <a:p xmlns:a="http://schemas.openxmlformats.org/drawingml/2006/main">
            <a:r>
              <a:t>- Anthropic Claude Code slash commands: https://docs.anthropic.com/en/docs/claude-code/slash-commands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Esse slide resolve a lacuna principal: mostrar literalmente como o agente nasce.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subagents: https://docs.anthropic.com/en/docs/claude-code/sub-agents</a:t>
            </a:r>
          </a:p>
          <a:p xmlns:a="http://schemas.openxmlformats.org/drawingml/2006/main">
            <a:r>
              <a:t>- Anthropic Claude Code slash commands: https://docs.anthropic.com/en/docs/claude-code/slash-commands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Diferenciar os dois contextos para o time técnico: Claude Code serve o engenheiro no dia a dia; a API serve quem quer embutir agentes em pipelines, produtos internos ou automações recorrentes. O objeto agent é persistente e versionado — criar uma vez, reutilizar sempre.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subagents: https://docs.anthropic.com/en/docs/claude-code/sub-agents</a:t>
            </a:r>
          </a:p>
          <a:p xmlns:a="http://schemas.openxmlformats.org/drawingml/2006/main">
            <a:r>
              <a:t>- Anthropic Claude Code settings: https://docs.anthropic.com/en/docs/claude-code/settings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unificado: anatomia do agente com o arquivo real e os três elementos que definem a skill. Reforçar que agente não é super prompt — é especialização reutilizável com contexto próprio.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subagents: https://docs.anthropic.com/en/docs/claude-code/sub-agents</a:t>
            </a:r>
          </a:p>
          <a:p xmlns:a="http://schemas.openxmlformats.org/drawingml/2006/main">
            <a:r>
              <a:t>- Anthropic Claude Code settings: https://docs.anthropic.com/en/docs/claude-code/settings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Mensagem importante: agente pode ser invocado explicitamente ou usado automaticamente conforme a tarefa.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subagents: https://docs.anthropic.com/en/docs/claude-code/sub-agents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com a fala do usuário: Databricks, desenvolvimento de API e 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subagents: https://docs.anthropic.com/en/docs/claude-code/sub-agents</a:t>
            </a:r>
          </a:p>
          <a:p xmlns:a="http://schemas.openxmlformats.org/drawingml/2006/main">
            <a:r>
              <a:t>- Anthropic Claude Code slash commands: https://docs.anthropic.com/en/docs/claude-code/slash-commands</a:t>
            </a:r>
          </a:p>
          <a:p xmlns:a="http://schemas.openxmlformats.org/drawingml/2006/main">
            <a:r>
              <a:t>- Databricks Declarative Automation Bundles: https://docs.databricks.com/aws/en/dev-tools/bundles/</a:t>
            </a:r>
          </a:p>
          <a:p xmlns:a="http://schemas.openxmlformats.org/drawingml/2006/main">
            <a:r>
              <a:t>- Databricks Lakeflow Jobs: https://docs.databricks.com/data-engineering/jobs/index.html</a:t>
            </a:r>
          </a:p>
          <a:p xmlns:a="http://schemas.openxmlformats.org/drawingml/2006/main">
            <a:r>
              <a:t>- Databricks Lakeflow Spark Declarative Pipelines: https://docs.databricks.com/aws/en/ldp/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sessão responde diretamente onde a IA aumenta produtividade no trabalho cotidiano.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Databricks Declarative Automation Bundles: https://docs.databricks.com/aws/en/dev-tools/bundles/</a:t>
            </a:r>
          </a:p>
          <a:p xmlns:a="http://schemas.openxmlformats.org/drawingml/2006/main">
            <a:r>
              <a:t>- Databricks Lakeflow Jobs: https://docs.databricks.com/data-engineering/jobs/index.html</a:t>
            </a:r>
          </a:p>
          <a:p xmlns:a="http://schemas.openxmlformats.org/drawingml/2006/main">
            <a:r>
              <a:t>- Databricks Lakeflow Spark Declarative Pipelines best practices: https://docs.databricks.com/aws/en/ldp/best-practices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IA com disciplina de plataforma. Onde existe padrão, existe mais oportunidade de automação segura.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Databricks Declarative Automation Bundles: https://docs.databricks.com/aws/en/dev-tools/bundles/</a:t>
            </a:r>
          </a:p>
          <a:p xmlns:a="http://schemas.openxmlformats.org/drawingml/2006/main">
            <a:r>
              <a:t>- Databricks Lakeflow Jobs: https://docs.databricks.com/data-engineering/jobs/index.html</a:t>
            </a:r>
          </a:p>
          <a:p xmlns:a="http://schemas.openxmlformats.org/drawingml/2006/main">
            <a:r>
              <a:t>- Databricks Lakeflow Spark Declarative Pipelines: https://docs.databricks.com/aws/en/ldp/</a:t>
            </a:r>
          </a:p>
          <a:p xmlns:a="http://schemas.openxmlformats.org/drawingml/2006/main">
            <a:r>
              <a:t>- Databricks Unity Catalog lineage: https://docs.databricks.com/aws/en/data-governance/unity-catalog/data-lineage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Amarrar com o agente api-backend e com o stack do time quando houver serviços de apoio ao dado.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subagents: https://docs.anthropic.com/en/docs/claude-code/sub-agents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Mensagem importante: IA não substitui conhecimento de Spark, mas acelera a investigação e o raciocínio.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subagents: https://docs.anthropic.com/en/docs/claude-code/sub-agents</a:t>
            </a:r>
          </a:p>
          <a:p xmlns:a="http://schemas.openxmlformats.org/drawingml/2006/main">
            <a:r>
              <a:t>- Databricks Lakeflow Spark Declarative Pipelines best practices: https://docs.databricks.com/aws/en/ldp/best-practices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Esse slide antecipa a objeção mais comum de times técnicos: quanto custa e o que acontece quando erra? Responder antes de perguntarem aumenta credibilidade da proposta. Enfatizar que o controle não é opcional — é parte 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  <a:p xmlns:a="http://schemas.openxmlformats.org/drawingml/2006/main">
            <a:r>
              <a:t>- Databricks Lakeflow Spark Declarative Pipelines best practices: https://docs.databricks.com/aws/en/ldp/best-practices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Esse slide sustenta a tese de produtividade total, não apenas de implementação.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  <a:p xmlns:a="http://schemas.openxmlformats.org/drawingml/2006/main">
            <a:r>
              <a:t>- Databricks Lakeflow Spark Declarative Pipelines best practices: https://docs.databricks.com/aws/en/ldp/best-practices</a:t>
            </a:r>
          </a:p>
          <a:p xmlns:a="http://schemas.openxmlformats.org/drawingml/2006/main">
            <a:r>
              <a:t>- Databricks Unity Catalog lineage: https://docs.databricks.com/aws/en/data-governance/unity-catalog/data-lineage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Separador do bloco final, voltado a governança, medição e próxima etapa prática.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  <a:p xmlns:a="http://schemas.openxmlformats.org/drawingml/2006/main">
            <a:r>
              <a:t>- Anthropic Claude Code subagents: https://docs.anthropic.com/en/docs/claude-code/sub-agents</a:t>
            </a:r>
          </a:p>
          <a:p xmlns:a="http://schemas.openxmlformats.org/drawingml/2006/main">
            <a:r>
              <a:t>- Databricks Lakeflow Spark Declarative Pipelines best practices: https://docs.databricks.com/aws/en/ldp/best-practices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Mensagem importante: a spec continua sendo a fonte de verdade entre os agentes.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subagents: https://docs.anthropic.com/en/docs/claude-code/sub-agents</a:t>
            </a:r>
          </a:p>
          <a:p xmlns:a="http://schemas.openxmlformats.org/drawingml/2006/main">
            <a:r>
              <a:t>- Databricks Declarative Automation Bundles: https://docs.databricks.com/aws/en/dev-tools/bundles/</a:t>
            </a:r>
          </a:p>
          <a:p xmlns:a="http://schemas.openxmlformats.org/drawingml/2006/main">
            <a:r>
              <a:t>- Databricks Lakeflow Spark Declarative Pipelines best practices: https://docs.databricks.com/aws/en/ldp/best-practices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Esse slide responde à objeção natural: isso não vai virar bagunça?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subagents: https://docs.anthropic.com/en/docs/claude-code/sub-agents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  <a:p xmlns:a="http://schemas.openxmlformats.org/drawingml/2006/main">
            <a:r>
              <a:t>- Databricks Lakeflow Spark Declarative Pipelines best practices: https://docs.databricks.com/aws/en/ldp/best-practices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Esse slide ajuda a antecipar resistência e mostrar maturidade na proposta.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  <a:p xmlns:a="http://schemas.openxmlformats.org/drawingml/2006/main">
            <a:r>
              <a:t>- Anthropic Claude Code subagents: https://docs.anthropic.com/en/docs/claude-code/sub-agents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diferença deste slide é mostrar COMO medir, não apenas O QUE medir. Baseline via GitLab ou Jira é obrigatório antes de rodar o piloto. Sem baseline, qualquer resultado vira opinião.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Databricks Lakeflow Spark Declarative Pipelines best practices: https://docs.databricks.com/aws/en/ldp/best-practices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Esse slide aumenta a credibilidade da proposta com o time técnico. Quem propõe IA sem mencionar limitações perde confiança. Mostrar que o processo SDD + review + checklist existe justamente para cobrir esses pontos cegos.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  <a:p xmlns:a="http://schemas.openxmlformats.org/drawingml/2006/main">
            <a:r>
              <a:t>- Anthropic Claude Code subagents: https://docs.anthropic.com/en/docs/claude-code/sub-agents</a:t>
            </a:r>
          </a:p>
          <a:p xmlns:a="http://schemas.openxmlformats.org/drawingml/2006/main">
            <a:r>
              <a:t>- Databricks Lakeflow Spark Declarative Pipelines best practices: https://docs.databricks.com/aws/en/ldp/best-practices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Mensagem executiva: adoção boa é incremental, mensurada e reversível.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  <a:p xmlns:a="http://schemas.openxmlformats.org/drawingml/2006/main">
            <a:r>
              <a:t>- Anthropic Claude Code subagents: https://docs.anthropic.com/en/docs/claude-code/sub-agents</a:t>
            </a:r>
          </a:p>
          <a:p xmlns:a="http://schemas.openxmlformats.org/drawingml/2006/main">
            <a:r>
              <a:t>- Databricks Lakeflow Spark Declarative Pipelines best practices: https://docs.databricks.com/aws/en/ldp/best-practices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Fechar com algo prático: um caso, poucos artefatos, janela curta e métricas de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Databricks Declarative Automation Bundles: https://docs.databricks.com/aws/en/dev-tools/bundles/</a:t>
            </a:r>
          </a:p>
          <a:p xmlns:a="http://schemas.openxmlformats.org/drawingml/2006/main">
            <a:r>
              <a:t>- Databricks Lakeflow Spark Declarative Pipelines best practices: https://docs.databricks.com/aws/en/ldp/best-practices</a:t>
            </a:r>
          </a:p>
          <a:p xmlns:a="http://schemas.openxmlformats.org/drawingml/2006/main">
            <a:r>
              <a:t>- Anthropic Claude Code subagents: https://docs.anthropic.com/en/docs/claude-code/sub-agents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a conversa com a pergunta central: qual caso real do nosso contexto faz mais sentido para provar ganho de produtividade sem elevar risco operacional? Não fechar com slide — fechar com pergunta e silêncio para o time responder.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  <a:p xmlns:a="http://schemas.openxmlformats.org/drawingml/2006/main">
            <a:r>
              <a:t>- Anthropic Claude Code subagents: https://docs.anthropic.com/en/docs/claude-code/sub-agents</a:t>
            </a:r>
          </a:p>
          <a:p xmlns:a="http://schemas.openxmlformats.org/drawingml/2006/main">
            <a:r>
              <a:t>- Databricks Declarative Automation Bundles: https://docs.databricks.com/aws/en/dev-tools/bundles/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com a mensagem central: não estamos propondo IA sem controle. Estamos propondo um jeito mais disciplinado de especificar, implementar e operar mudanças de 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Code memory: https://docs.anthropic.com/en/docs/claude-code/memory</a:t>
            </a:r>
          </a:p>
          <a:p xmlns:a="http://schemas.openxmlformats.org/drawingml/2006/main">
            <a:r>
              <a:t>- Anthropic Claude Code settings: https://docs.anthropic.com/en/docs/claude-code/settings</a:t>
            </a:r>
          </a:p>
          <a:p xmlns:a="http://schemas.openxmlformats.org/drawingml/2006/main">
            <a:r>
              <a:t>- Databricks Declarative Automation Bundles: https://docs.databricks.com/aws/en/dev-tools/bundles/</a:t>
            </a:r>
          </a:p>
          <a:p xmlns:a="http://schemas.openxmlformats.org/drawingml/2006/main">
            <a:r>
              <a:t>- Databricks Lakeflow Spark Declarative Pipelines: https://docs.databricks.com/aws/en/ldp/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4845f428b4ed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597ff42e6e0406d" /><Relationship Type="http://schemas.openxmlformats.org/officeDocument/2006/relationships/slideLayout" Target="/ppt/slideLayouts/slideLayout2.xml" Id="R81e8e49387c246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e8e49387c246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49c235ae5747f6" /><Relationship Type="http://schemas.openxmlformats.org/officeDocument/2006/relationships/image" Target="/ppt/media/image.png" Id="R81ad446c7a6b418b" /><Relationship Type="http://schemas.openxmlformats.org/officeDocument/2006/relationships/notesSlide" Target="/ppt/notesSlides/notesSlide1.xml" Id="R3b1dc101f24945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1f418beca04e6e" /><Relationship Type="http://schemas.openxmlformats.org/officeDocument/2006/relationships/image" Target="/ppt/media/image2.png" Id="Rb431c3313b8745f0" /><Relationship Type="http://schemas.openxmlformats.org/officeDocument/2006/relationships/notesSlide" Target="/ppt/notesSlides/notesSlide2.xml" Id="R7310b2243fd34a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ef6f7deca14c2e" /><Relationship Type="http://schemas.openxmlformats.org/officeDocument/2006/relationships/image" Target="/ppt/media/image3.png" Id="R40b0d0452e714730" /><Relationship Type="http://schemas.openxmlformats.org/officeDocument/2006/relationships/notesSlide" Target="/ppt/notesSlides/notesSlide3.xml" Id="R69d843eb432445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896a7bf80245fd" /><Relationship Type="http://schemas.openxmlformats.org/officeDocument/2006/relationships/image" Target="/ppt/media/image4.png" Id="Rfa64f5ddc1024b9a" /><Relationship Type="http://schemas.openxmlformats.org/officeDocument/2006/relationships/notesSlide" Target="/ppt/notesSlides/notesSlide4.xml" Id="R27e78253f4544b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34b4e001ab420c" /><Relationship Type="http://schemas.openxmlformats.org/officeDocument/2006/relationships/image" Target="/ppt/media/image5.png" Id="R12068e83eb5a493f" /><Relationship Type="http://schemas.openxmlformats.org/officeDocument/2006/relationships/notesSlide" Target="/ppt/notesSlides/notesSlide5.xml" Id="R308d0c1366554e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d8f5b7c69c41e2" /><Relationship Type="http://schemas.openxmlformats.org/officeDocument/2006/relationships/image" Target="/ppt/media/image6.png" Id="Rfb3778be44744abc" /><Relationship Type="http://schemas.openxmlformats.org/officeDocument/2006/relationships/notesSlide" Target="/ppt/notesSlides/notesSlide6.xml" Id="R6c6680cc529041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0cb7c2c6b54831" /><Relationship Type="http://schemas.openxmlformats.org/officeDocument/2006/relationships/image" Target="/ppt/media/image7.png" Id="R8867e5fbddd94bdb" /><Relationship Type="http://schemas.openxmlformats.org/officeDocument/2006/relationships/notesSlide" Target="/ppt/notesSlides/notesSlide7.xml" Id="Re0947c4c91e747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517f15b9f94e1c" /><Relationship Type="http://schemas.openxmlformats.org/officeDocument/2006/relationships/image" Target="/ppt/media/image8.png" Id="R30bea8ba41c549a3" /><Relationship Type="http://schemas.openxmlformats.org/officeDocument/2006/relationships/notesSlide" Target="/ppt/notesSlides/notesSlide8.xml" Id="Ref367a79b31740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e3400d57054a6a" /><Relationship Type="http://schemas.openxmlformats.org/officeDocument/2006/relationships/image" Target="/ppt/media/image9.png" Id="R1cbffbb4da794c54" /><Relationship Type="http://schemas.openxmlformats.org/officeDocument/2006/relationships/notesSlide" Target="/ppt/notesSlides/notesSlide9.xml" Id="R795f70b41a5145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f4c26160cd4865" /><Relationship Type="http://schemas.openxmlformats.org/officeDocument/2006/relationships/image" Target="/ppt/media/image10.png" Id="R4d868f00d9b449c6" /><Relationship Type="http://schemas.openxmlformats.org/officeDocument/2006/relationships/notesSlide" Target="/ppt/notesSlides/notesSlide10.xml" Id="Rdfb08f54ff2b4e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d8e5b65c024bc9" /><Relationship Type="http://schemas.openxmlformats.org/officeDocument/2006/relationships/image" Target="/ppt/media/image11.png" Id="R5055c4989ca44f0e" /><Relationship Type="http://schemas.openxmlformats.org/officeDocument/2006/relationships/notesSlide" Target="/ppt/notesSlides/notesSlide11.xml" Id="R2476ccd6419e4c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387036002b421f" /><Relationship Type="http://schemas.openxmlformats.org/officeDocument/2006/relationships/image" Target="/ppt/media/image12.png" Id="R31b9fa5733554e58" /><Relationship Type="http://schemas.openxmlformats.org/officeDocument/2006/relationships/notesSlide" Target="/ppt/notesSlides/notesSlide12.xml" Id="R68ae48f90a364e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46dddd68a74a63" /><Relationship Type="http://schemas.openxmlformats.org/officeDocument/2006/relationships/image" Target="/ppt/media/image13.png" Id="R0541c152d5f4497a" /><Relationship Type="http://schemas.openxmlformats.org/officeDocument/2006/relationships/notesSlide" Target="/ppt/notesSlides/notesSlide13.xml" Id="R8a8e205e19d147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23269569494928" /><Relationship Type="http://schemas.openxmlformats.org/officeDocument/2006/relationships/image" Target="/ppt/media/image14.png" Id="R3489ab655675415e" /><Relationship Type="http://schemas.openxmlformats.org/officeDocument/2006/relationships/notesSlide" Target="/ppt/notesSlides/notesSlide14.xml" Id="Re14bd7b40e8e43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f50efaa1e04025" /><Relationship Type="http://schemas.openxmlformats.org/officeDocument/2006/relationships/image" Target="/ppt/media/image15.png" Id="R5fbc75ebf2734552" /><Relationship Type="http://schemas.openxmlformats.org/officeDocument/2006/relationships/notesSlide" Target="/ppt/notesSlides/notesSlide15.xml" Id="Rc268c6bd965645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33777449414f4d" /><Relationship Type="http://schemas.openxmlformats.org/officeDocument/2006/relationships/image" Target="/ppt/media/image16.png" Id="Raa2e3e2dc94a4b83" /><Relationship Type="http://schemas.openxmlformats.org/officeDocument/2006/relationships/notesSlide" Target="/ppt/notesSlides/notesSlide16.xml" Id="Rf77f04eb840849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a5b2a5a31a42d8" /><Relationship Type="http://schemas.openxmlformats.org/officeDocument/2006/relationships/image" Target="/ppt/media/image17.png" Id="R5c65a8a49b6e40c4" /><Relationship Type="http://schemas.openxmlformats.org/officeDocument/2006/relationships/notesSlide" Target="/ppt/notesSlides/notesSlide17.xml" Id="Ra129107f2d6a412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ce39e8e98a4698" /><Relationship Type="http://schemas.openxmlformats.org/officeDocument/2006/relationships/image" Target="/ppt/media/image18.png" Id="R9fe486cbfa2544e2" /><Relationship Type="http://schemas.openxmlformats.org/officeDocument/2006/relationships/notesSlide" Target="/ppt/notesSlides/notesSlide18.xml" Id="Rc11f81661da54d4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eb195d59674da0" /><Relationship Type="http://schemas.openxmlformats.org/officeDocument/2006/relationships/image" Target="/ppt/media/image19.png" Id="R358723f289df4d2d" /><Relationship Type="http://schemas.openxmlformats.org/officeDocument/2006/relationships/notesSlide" Target="/ppt/notesSlides/notesSlide19.xml" Id="R521bad2a71df42c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5c334b115b4578" /><Relationship Type="http://schemas.openxmlformats.org/officeDocument/2006/relationships/image" Target="/ppt/media/image20.png" Id="R057995441faa4fd1" /><Relationship Type="http://schemas.openxmlformats.org/officeDocument/2006/relationships/notesSlide" Target="/ppt/notesSlides/notesSlide20.xml" Id="R6c04806cf5b24ed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fc632ece3c4e01" /><Relationship Type="http://schemas.openxmlformats.org/officeDocument/2006/relationships/image" Target="/ppt/media/image21.png" Id="R632e94bfbe544465" /><Relationship Type="http://schemas.openxmlformats.org/officeDocument/2006/relationships/notesSlide" Target="/ppt/notesSlides/notesSlide21.xml" Id="Rba827510f7764da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d342f5546e46bd" /><Relationship Type="http://schemas.openxmlformats.org/officeDocument/2006/relationships/image" Target="/ppt/media/image22.png" Id="R87eeac3d0fdc4718" /><Relationship Type="http://schemas.openxmlformats.org/officeDocument/2006/relationships/notesSlide" Target="/ppt/notesSlides/notesSlide22.xml" Id="R9f28d17785104c0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ed0276ea734d74" /><Relationship Type="http://schemas.openxmlformats.org/officeDocument/2006/relationships/image" Target="/ppt/media/image23.png" Id="R0c1980fcd7f44d4f" /><Relationship Type="http://schemas.openxmlformats.org/officeDocument/2006/relationships/notesSlide" Target="/ppt/notesSlides/notesSlide23.xml" Id="Ref85e84457eb4f5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6871b3c868451a" /><Relationship Type="http://schemas.openxmlformats.org/officeDocument/2006/relationships/image" Target="/ppt/media/image24.png" Id="R5911274008cc435f" /><Relationship Type="http://schemas.openxmlformats.org/officeDocument/2006/relationships/notesSlide" Target="/ppt/notesSlides/notesSlide24.xml" Id="Rc2be2880de324c5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02044d4da24143" /><Relationship Type="http://schemas.openxmlformats.org/officeDocument/2006/relationships/image" Target="/ppt/media/image25.png" Id="R5e69ea2960554f39" /><Relationship Type="http://schemas.openxmlformats.org/officeDocument/2006/relationships/notesSlide" Target="/ppt/notesSlides/notesSlide25.xml" Id="R0fed77b8f7174fd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261cfe876148e7" /><Relationship Type="http://schemas.openxmlformats.org/officeDocument/2006/relationships/image" Target="/ppt/media/image26.png" Id="Rd38b84e203024c6a" /><Relationship Type="http://schemas.openxmlformats.org/officeDocument/2006/relationships/notesSlide" Target="/ppt/notesSlides/notesSlide26.xml" Id="R6d1840caa13b446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3153a444b84b0d" /><Relationship Type="http://schemas.openxmlformats.org/officeDocument/2006/relationships/image" Target="/ppt/media/image27.png" Id="R66fa42e3caf4477b" /><Relationship Type="http://schemas.openxmlformats.org/officeDocument/2006/relationships/notesSlide" Target="/ppt/notesSlides/notesSlide27.xml" Id="R518ea722234b43f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7a6acda1d94f18" /><Relationship Type="http://schemas.openxmlformats.org/officeDocument/2006/relationships/image" Target="/ppt/media/image28.png" Id="R6ac458111af94c97" /><Relationship Type="http://schemas.openxmlformats.org/officeDocument/2006/relationships/notesSlide" Target="/ppt/notesSlides/notesSlide28.xml" Id="R8f9a0dc263bd41e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2b17dbe42e4d6f" /><Relationship Type="http://schemas.openxmlformats.org/officeDocument/2006/relationships/image" Target="/ppt/media/image29.png" Id="Re073a3d774bd4225" /><Relationship Type="http://schemas.openxmlformats.org/officeDocument/2006/relationships/notesSlide" Target="/ppt/notesSlides/notesSlide29.xml" Id="Re07ace2c2e3a463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96d1c621064564" /><Relationship Type="http://schemas.openxmlformats.org/officeDocument/2006/relationships/image" Target="/ppt/media/image30.png" Id="Rfbd153fb70f94071" /><Relationship Type="http://schemas.openxmlformats.org/officeDocument/2006/relationships/notesSlide" Target="/ppt/notesSlides/notesSlide30.xml" Id="R752d4e484e0a4c4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0b2e46ca9e4516" /><Relationship Type="http://schemas.openxmlformats.org/officeDocument/2006/relationships/image" Target="/ppt/media/image31.png" Id="R3c5deff095324f15" /><Relationship Type="http://schemas.openxmlformats.org/officeDocument/2006/relationships/notesSlide" Target="/ppt/notesSlides/notesSlide31.xml" Id="R5a173cee19c44ef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16a1a0760c4b00" /><Relationship Type="http://schemas.openxmlformats.org/officeDocument/2006/relationships/image" Target="/ppt/media/image32.png" Id="R80adb9eb2989487e" /><Relationship Type="http://schemas.openxmlformats.org/officeDocument/2006/relationships/notesSlide" Target="/ppt/notesSlides/notesSlide32.xml" Id="R62c4083ede30466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1b88fa896e417e" /><Relationship Type="http://schemas.openxmlformats.org/officeDocument/2006/relationships/image" Target="/ppt/media/image33.png" Id="R0e6e10391826442e" /><Relationship Type="http://schemas.openxmlformats.org/officeDocument/2006/relationships/notesSlide" Target="/ppt/notesSlides/notesSlide33.xml" Id="Rc11bd9f015af4c0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336a3d65e14075" /><Relationship Type="http://schemas.openxmlformats.org/officeDocument/2006/relationships/image" Target="/ppt/media/image34.png" Id="R5dacd9964cf344a6" /><Relationship Type="http://schemas.openxmlformats.org/officeDocument/2006/relationships/notesSlide" Target="/ppt/notesSlides/notesSlide34.xml" Id="R77604809ad3a436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dc4fbcc82f426c" /><Relationship Type="http://schemas.openxmlformats.org/officeDocument/2006/relationships/image" Target="/ppt/media/image35.png" Id="R6f044e89137b438b" /><Relationship Type="http://schemas.openxmlformats.org/officeDocument/2006/relationships/notesSlide" Target="/ppt/notesSlides/notesSlide35.xml" Id="R0899e71e0211487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a8e9aede8d4fb5" /><Relationship Type="http://schemas.openxmlformats.org/officeDocument/2006/relationships/image" Target="/ppt/media/image36.png" Id="R2d3b876f6bae4b33" /><Relationship Type="http://schemas.openxmlformats.org/officeDocument/2006/relationships/notesSlide" Target="/ppt/notesSlides/notesSlide36.xml" Id="R37a4928b49564d3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0d0e762f3c4586" /><Relationship Type="http://schemas.openxmlformats.org/officeDocument/2006/relationships/image" Target="/ppt/media/image37.png" Id="R7f14d4c416714bbc" /><Relationship Type="http://schemas.openxmlformats.org/officeDocument/2006/relationships/notesSlide" Target="/ppt/notesSlides/notesSlide37.xml" Id="Rb227ac343bca437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dcfcfce1e744e3" /><Relationship Type="http://schemas.openxmlformats.org/officeDocument/2006/relationships/image" Target="/ppt/media/image38.png" Id="R6fe6b9fe1c7c426e" /><Relationship Type="http://schemas.openxmlformats.org/officeDocument/2006/relationships/notesSlide" Target="/ppt/notesSlides/notesSlide38.xml" Id="R9682b130d11b4d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4462C7-1560-435D-AE64-2FAECBF3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6B23B-8FEF-4360-8DF8-DEE03BC4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25D23-B717-4A56-8356-272C1A55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0FBDF-257E-4A3F-AF80-8E680A4A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2DEE5-EFFF-49E6-BA28-5F7F7A8F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F3374-B087-4ED7-84AA-47E03B31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662AA-FDA3-4713-9820-F7EF474A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8C582-3C80-42E0-BC07-F7E120E7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C2577-A893-497A-B42F-C3A30C18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FA00B-8820-4959-89F4-C5B97F24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8F9EF-C42C-440C-BCB2-3C1EFC05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3E20E-4EC3-4118-9602-D47FD267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d446c7a6b418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D2B3E-E1E5-4DED-A67D-B6334056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91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825360-F8EF-46E1-8FEF-0F368A9D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F2522-CE3D-4055-AF70-7E24C157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ENGENHARIA DE DADOS + 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CA1C5B-7E04-4C64-A68F-60D5F255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SDD com Claude para Engenharia de Dados no Databricks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00982C-15CC-4AF5-AF97-6392BD4E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Reunião de alinhamento em 24 de abril de 2026. Como transformar pedidos vagos em especificações executáveis, com mais padrão, qualidade e velocidade.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717CF6-543C-464F-9519-1249996F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F3D30-502A-4702-846E-113CB767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Spec primeiro. Código depois.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6F15C-1A62-44C8-83D1-2DCFA04B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104900"/>
            <a:ext cx="2095500" cy="37909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45AEE-2747-478C-AC75-EE9DD4E3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097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138"/>
                </a:solidFill>
              </a:defRPr>
            </a:pPr>
            <a:r>
              <a:rPr sz="975" b="1">
                <a:solidFill>
                  <a:srgbClr val="D8A138"/>
                </a:solidFill>
              </a:rPr>
              <a:t>PILARES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D9A33A-A7AF-418C-A33D-EF8D52C9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859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A1FA28-3E6F-4EC6-BF77-C5009045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431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Spec clara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756A51-83C0-4673-B06E-0B7C21C2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479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CD0596-16BE-4224-98AD-A3B6BA89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051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Código guiado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2B01CF-FC4D-4C66-9D83-6B5BAF9E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099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708A3D-39B9-4B86-8311-433323CB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671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Operação prevista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9B1B67-8040-4163-97C8-85D32755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1239625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6D863D-88A4-4587-AF60-CE8154CD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92DA7-7ABE-4E52-92D9-FAEFEDCD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C56B7-FBF6-4E20-8649-96D55267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78ADC-D8E5-4C99-9207-34BF77DB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3C899-B284-4F33-A606-B4AA59F9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321D9-FC95-4B8F-B13A-219C8C39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58424-A08A-4936-A836-FBBC0F9D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C56A2-650A-4531-BFD9-4A9AEF47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B160E-0EE0-49E3-9E11-3C754E08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D4CD2-8B51-4037-874B-298367D7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77C16-BDEF-4400-9DC0-9E3ED629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1DFB4-E7A8-4D44-97B7-E90CF0A6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1c3313b8745f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ACB97-A31C-4045-A790-3E63E934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D34139-F24C-43A6-9FED-CA7FF854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AGENDA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434E1-21A2-463B-9AB1-A69AB54B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02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6A756D-AB48-4F68-9E09-B81CCC30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27B6A-743C-4E33-8D25-C5971B7E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F61DFF-4C72-412F-999A-D0B289EE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O que vamos cobrir hoje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DE4A1A-66F4-4A2E-AD3A-04CB8426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Uma proposta de como trabalhar melhor — não mais rápido — com IA em engenharia de dados.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A5F185-2594-460A-B64A-D57B6E76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AA5BE2-E8E0-46B0-AD1E-89F5725C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E27984-4A3A-4314-B3F2-776BBD46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06AC1D-B042-4814-8C39-870093C7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0D04B5-3DCA-4410-B35E-013F4D48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4531B6-69C6-47A4-B1AB-7948B924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1E043E-09C2-4244-8B1B-9E0A0F48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Parte 1 — Contexto e método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FC30E5-D3CE-4D8C-8094-A5225EAA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Por que mudar o fluxo. O que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é SDD, spec e prompting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ancorado em artefatos.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48EAC3-BCB2-471C-BBA2-CE60D476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A2BD2C-F19D-4E9D-85FB-5EB1A1DB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24397F-BE61-4958-A451-9810398C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784F55-E7F7-458B-A000-24E8A1F5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B0539E-793A-4B1C-9B30-66304470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5589FA-FC09-44FA-B416-531DF7E9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26FFCE-334D-40D4-82E5-9B842BF8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Parte 2 — Ferramentas e agentes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CF6428-AD0F-41A4-899B-4B46E3B7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CLAUDE.md, rules, memory 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agentes especializados por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responsabilidade.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2D71EF-7D18-4723-A1E7-F5965246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76007E-E138-416A-A41F-FFDCF38C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0217C9-7FC1-4327-8666-0ABD1154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656320-ED8F-4B4C-BE1A-31D5119C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BC0F87-2562-46C9-8A9E-6C77E1D7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ACAD61-20F6-474A-9FEE-10AEC39A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5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6C15FC-D5DE-46FB-BF44-FED1A562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Parte 3 — Casos, adoção e piloto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CE644E-74DA-412B-B879-E5D88D01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Onde a IA gera ganho real.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Como medir. Como começar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pequeno e crescer por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evidências.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8BDC34-D522-480E-9BD8-FCCD8F1A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103740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6DA968-EC0A-4B8A-9A15-23B823F1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1F84F-840D-4E92-B57C-5767318E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92BDE-FB2C-43D8-A2FC-7FD39BC5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1274F-BB21-4AC9-B6C5-5B50B87A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B540A-8422-4DDB-925C-14325A11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51681-72C7-4A28-8BE6-3A8877FE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EEF37-B8AC-48E9-B959-E243806F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A7315-A776-47F3-94F1-0D025E7B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16956-4CA8-4ECF-80CA-D8F169B2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1A6EB-782C-441B-9A74-915078F9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7C9EE-BE28-4775-AED2-38300302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EB320-625A-4345-BCB9-CDE96CCF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b0d0452e71473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1E343-C5FE-4540-839D-3F6DC652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88A8A-5FB6-424D-A491-9DC9E763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38200"/>
            <a:ext cx="2876550" cy="518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FEC45-5E4C-4F75-8799-A04D3D92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SESSAO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872D3-4AE3-4881-A521-C20F9D20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03 / 38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46EE6-7C60-4540-B02C-F7F25526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D79FF-9DCB-46FA-82D1-BC50F869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545C25-0B46-4B2C-860C-98086809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BB65F5-A81D-476D-84B5-044A0C00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19200"/>
            <a:ext cx="6724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Contexto e tese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3F53E-DB63-49E3-B89B-9EEE99F6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6496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Produtividade com IA não vem de pedir código mais rápido. Vem de reduzir ambiguidade, retrabalho e falha operacional.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FC7859-7B71-4B81-90F2-A1BBE180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1920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00" b="1">
                <a:solidFill>
                  <a:srgbClr val="F5EFE6">
                    <a:alpha val="54902"/>
                  </a:srgbClr>
                </a:solidFill>
              </a:defRPr>
            </a:pPr>
            <a:r>
              <a:rPr sz="7800" b="1">
                <a:solidFill>
                  <a:srgbClr val="F5EFE6">
                    <a:alpha val="54902"/>
                  </a:srgbClr>
                </a:solidFill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49F7D-5664-4C4B-B118-7F8FB57A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051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A138"/>
                </a:solidFill>
              </a:defRPr>
            </a:pPr>
            <a:r>
              <a:rPr sz="975" b="1">
                <a:solidFill>
                  <a:srgbClr val="D8A138"/>
                </a:solidFill>
              </a:rPr>
              <a:t>NESTA SESSÃO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49091A-6AF7-45BF-8487-F47E8B74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099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C557D3-FD15-4B32-AE78-809A75FD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242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Dor atual no fluxo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E5BEE3-2059-4B0A-BD1F-FDC1C149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862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ECD45E-82B8-4416-B311-71094F8A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005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Onde a IA gera ganho real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61D9D1-0CE3-4150-912B-00741388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625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BCA21C-FE92-4F4C-9D04-6A9DA25C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768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Spec primeiro, código depois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BE8A1F-21D5-49AE-8381-63F21275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1933899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E937DF-77D3-4A83-BDCC-47362711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7F4E3-9311-4B20-A139-F902D2F8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FBBAE-1B9D-40BC-8052-9B2FB7AB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A5E47-06D5-4A21-ADC9-5E1467C6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9B979-6CDC-49F4-AA82-3206ECA9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4B25C-4F90-4D5B-B10B-FAF18057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B83EB-6007-440E-975C-C3C7A0BF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A8EFA-C9C4-4737-AF7B-E4148AEB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8DAA8-254B-4260-85FD-D6128225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C0C73-C870-4F37-9246-1750C844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07BC8-9025-490D-93CB-67A92862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A729F-7BBF-4E66-87DA-D6160AEB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4f5ddc1024b9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37F57-A734-43B0-8BC7-6F6DA7F6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F1D2E0-11E0-4FAE-A031-51691F54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POR QUE MUDAR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32E3A-C3E6-48E6-BF5F-ECC37A51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04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3872E-70E5-4A47-ADE8-6DE12AF8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57CB8-FD50-4BA8-93E5-57A453EA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642FF3-AF8F-4B5D-842B-BC0E3204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Hoje a maior perda não está na escrita do código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EB176D-82D9-499C-A943-A0DFF82A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Ela aparece na ambiguidade do pedido, no retrabalho entre times e na validação tardia do impacto downstream.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0A6434-0EA0-48FE-B4BF-A0920E40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4F8B86-01E9-493E-948A-F21C8B9D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945700-CABD-4AA2-A58F-5496665F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FABB26-5A22-4CFE-B362-254D5F5F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86BE20-DFF1-4CC4-A665-86995232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4EB4F0-F9EA-4BA1-8BF4-57DA1CBD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D459D0-CBBB-4948-8EDC-28FC7C19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Pedidos vagos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32667C-FD1E-4F1E-96F0-FD9454D0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Sem contrato de fonte,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destino, grain e regras, o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trabalho começa na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suposição.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FCD50B-E872-4CBA-831B-957AF4CB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304B17-9A4D-4BB5-A546-0C6922F0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470DCD-F6C7-4089-AE2C-FFAA40FA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668BFB-21E6-468E-904B-9EBCAEA7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0271A4-1487-4E51-A51F-71450360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4E241D-B9D5-40BC-9629-BF3E074B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097147-BF56-4BCF-B25E-8B0326D2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Entrega não padronizada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E31180-95FF-4F37-9546-FA3F4C3C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Cada pipeline vira uma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exceção. Testes, backfill 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rollback entram tarde ou não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entram.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B7A73D-E023-4F7A-988A-8ABB6058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FE40C2-7B73-427A-9A08-9EEA39EC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208C14-8230-4CA7-BFB3-832362F8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D7450B-D0F5-424D-AD44-BBA986FF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271A72-48DF-4514-8BCD-62F16AF6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BFF971-17BA-48F9-9DF9-3BF1A2E8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5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905188-8B9B-4982-96EA-B4E21646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Validação no fim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230A18-E34A-4A1D-8A9E-13274D52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Schema drift, duplicidade 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quebra downstream aparecem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quando a mudança já está em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execução.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B34390-0652-4F88-A75C-C07314B6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1099154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0AADC1-FB97-42AE-9EFC-D49A61ED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F20BC-CA82-4619-A2D0-8AC374F1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1E425-1DBC-4A20-B1C0-DF980920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C2B28-F4FD-4164-8520-C0BAEDA8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B0DB3-9A47-478F-B49B-F5E2422F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E50E9-761B-46BE-98BD-72770C87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8A2EF-C931-408F-9970-0B603F36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DCFF1-130D-4482-9127-90EB5DA5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8643E-94CB-40D6-BBB6-3CE5CC2D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4C3BC-29CE-41D8-B105-28237273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B62E6-4CA4-44B5-A358-C7E56B7F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E053F-98C4-46AD-AE22-C803F593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68e83eb5a493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A54CC-B319-4479-825F-6D3157F5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15507-5D26-4A75-9E4D-333E87F4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ALAVANCAS DE PRODUTIVIDADE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D9B39A-8055-44CD-A843-37A56EB7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05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DC7378-A22B-4729-B814-90E393E1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85154C-C752-41D0-91BA-D95A453C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82BC9-EC8C-4DD3-99FB-78A13047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Onde a IA realmente economiza tempo na engenharia de dados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C6113-F48B-4B5E-85CB-B063E97B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O maior ganho não é escrever SQL mais rápido. É reduzir fricção ao longo do ciclo inteiro.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4F8E30-7251-4BC8-926B-2A63DF00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5219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45CE91-C9C2-47BF-BD08-2EC4DBE5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4AE196-58C8-4AC9-846B-1E9E7093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87748C-BD08-4153-8096-506CE063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38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8FBEEC-F160-4834-83C1-AD0DF217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362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CAF515-753D-4C4B-A2D3-C09B9C84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95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448B76-FACD-44D2-BC11-3110815E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62300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3381E"/>
                </a:solidFill>
              </a:defRPr>
            </a:pPr>
            <a:r>
              <a:rPr sz="1050" b="1">
                <a:solidFill>
                  <a:srgbClr val="A3381E"/>
                </a:solidFill>
              </a:rPr>
              <a:t>Refino da demanda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C912DA-0B51-43D6-B6BD-4E9DFD9E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483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Transforma pedido vago em spec, perguntas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e lacunas antes de mexer no código.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23C0C9-DCC3-400C-ACB0-6B0F4DF6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5219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E0B395-2A2D-4719-8C07-36B77F4D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451EE4-93AC-4277-A932-6B6B18C9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62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AC6098-5F0F-4A95-9D05-87FAE0D7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0B32DF-587C-4B88-B5CD-7065F33B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E4E384-B664-47D4-BD37-B4A7320D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8ED284-6CE8-4AC3-803F-D87F4013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62300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3381E"/>
                </a:solidFill>
              </a:defRPr>
            </a:pPr>
            <a:r>
              <a:rPr sz="1050" b="1">
                <a:solidFill>
                  <a:srgbClr val="A3381E"/>
                </a:solidFill>
              </a:rPr>
              <a:t>Scaffolding técnico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C3AC40-1A0D-41EA-B119-FCFDAE8F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483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Acelera bundles, jobs, pipelines, APIs,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testes e documentação inicial.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76F55E-C2B8-4A35-87D2-0756A132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219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829209-D941-49EB-AD84-E59D6818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218735-4001-489A-8B2A-52C3B9F6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05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DD708E-01DF-416B-8A16-D26EF0FC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48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D7B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F1D445-E98A-40BD-BF13-15E6D1EE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B44C1F-5BF3-4ED4-8C08-2DEAC948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19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5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1F918F-F64A-40D8-8E1C-29A55250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05350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3381E"/>
                </a:solidFill>
              </a:defRPr>
            </a:pPr>
            <a:r>
              <a:rPr sz="1050" b="1">
                <a:solidFill>
                  <a:srgbClr val="A3381E"/>
                </a:solidFill>
              </a:rPr>
              <a:t>Review e qualidade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0F354F-F812-4E20-8D92-073BBFA4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483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Revisa risco, impacto downstream, checks,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rollback e pontos cegos de operação.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BB76C9-0522-43EF-936A-F5AA33AC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5219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CD4629-7207-4F87-934C-A2C50BAC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4AF382-D9F9-4139-8DC7-0B6D6823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05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E29927-FB89-4CC7-861A-53076D63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81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32B07E-6E10-44F9-8618-47802585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905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323F65-9DF5-4E1D-B2D5-03A70078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38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4533F3E-B574-4020-8042-37DF8D34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05350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3381E"/>
                </a:solidFill>
              </a:defRPr>
            </a:pPr>
            <a:r>
              <a:rPr sz="1050" b="1">
                <a:solidFill>
                  <a:srgbClr val="A3381E"/>
                </a:solidFill>
              </a:rPr>
              <a:t>Operação e suporte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02D128-8105-4FBB-BED5-8666B02A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0"/>
            <a:ext cx="483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Ajuda em runbooks, troubleshooting, tuning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e padronização de resposta a incidentes.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7CD693-6D2B-4C3C-ABC9-E71B4F50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12951916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BE01C6-8911-4AE8-9657-36922D80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5937E-218D-43EF-97A7-87C827CE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9E9CB-C151-40D0-86CE-B65F83E1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6B837-CD4B-41DB-95FC-086FD76D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C67FA-AF59-489F-B3C8-67145E58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7D941-20D0-4822-B502-7B1104C3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9BA65-5861-4A8F-83C8-8B8FA5ED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208F8-1556-42D3-95DB-8F761157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3D933-B0F0-490D-872E-7F7851F4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08404-D620-42A8-85B1-E9B66D4F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05E43-FCF5-4372-86FC-640185D1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9D2C2-AC23-412D-ADBA-4436A748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778be44744ab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B08187-21BD-4815-B4BF-75AEF158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098A8-A26F-4CC2-A8E5-E01912CD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38200"/>
            <a:ext cx="2876550" cy="518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89FA8-A6C2-4C72-B6BD-4EA86798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SESSAO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F0B7A8-B334-4350-8351-D52F2E61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06 / 38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DF30F-A691-4BCA-B0F8-53618054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F4DB39-0D47-4521-AA45-D2821A2A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98430C-A642-4D52-9B69-1BC1A7E0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5B6E41-409D-45DF-8E9E-C0C43082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19200"/>
            <a:ext cx="6724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SDD, spec e prompting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AF7D79-D714-41B9-A25B-62E3A8C6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6496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Aqui entra o coração da proposta: transformar demanda vaga em contrato executável antes de escrever qualquer pipeline ou API.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3526FB-054D-48B6-B292-8D7CBA0B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1920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00" b="1">
                <a:solidFill>
                  <a:srgbClr val="F5EFE6">
                    <a:alpha val="54902"/>
                  </a:srgbClr>
                </a:solidFill>
              </a:defRPr>
            </a:pPr>
            <a:r>
              <a:rPr sz="7800" b="1">
                <a:solidFill>
                  <a:srgbClr val="F5EFE6">
                    <a:alpha val="54902"/>
                  </a:srgbClr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2DE23D-01BD-4D98-AC88-A5F84D2D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051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A138"/>
                </a:solidFill>
              </a:defRPr>
            </a:pPr>
            <a:r>
              <a:rPr sz="975" b="1">
                <a:solidFill>
                  <a:srgbClr val="D8A138"/>
                </a:solidFill>
              </a:rPr>
              <a:t>NESTA SESSÃO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B94C5B-C37F-4846-AD1D-D049ED23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099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EF89BA-4E9E-4FF4-97CB-9E960105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242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Fluxo SDD no dia a dia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B0B88B-DD69-4B0D-9C25-ACC954CC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862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C91AF0-26FF-4634-AAFF-5A806D8E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005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Spec curta, mas acionável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5541FA-3922-4556-BD2A-F383006D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625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A42178-C93C-44B6-84B6-D9AD66DB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768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Prompt ancorado em artefatos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9B7B6B-C25E-4843-9A34-B8E5A84F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20577265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2200C9-2F18-471C-AA1E-7D26A273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697C6-05E1-452D-A887-25CB9ABD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00970-277D-4E27-9F57-2C7541DA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438BB-B456-4D13-9D61-110FAC71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D2B72-9AE8-49B4-99C7-43FA1505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4DF94-04F6-43B7-85A5-7AF49B6D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2C9F8-AC33-42C9-84F7-FE05D399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7AE73-29A3-4ED5-8387-8BDF7C49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3FD4F-0E45-4AF0-9E64-6F85E122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29C1B-7F77-40FE-9A88-F5DAAD7A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ED9BF-E9ED-4CC5-BB65-4B902323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357EB-786C-44A3-A014-E9755BEC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7e5fbddd94bd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32AF8E-3D89-4511-8CD3-8EDCCF2A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BF260-8925-4A7C-B8F5-BE0B91CF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DO PROBLEMA A ENTREGA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F3BD2-FE3A-401C-BF54-97FCC9FF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07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0C0ED-93BD-40CE-942A-84BC1633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9586D9-E09E-4454-B360-B0FCF427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DFFDFB-4677-4640-B6EF-1F9DAC20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810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A spec é o elo que faltava entre análise e implementação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9044FF-99B7-4C48-B968-810CD5B2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Análise de requisitos entende o problema. Spec traduz em contrato executável. Sem esse elo, a ambiguidade vai para o código.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B21BD-F3E3-41C6-9B3F-28104912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CEE17-2EB1-400B-AD69-FDC16391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A55D2-A448-42EB-B862-2B3009D5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42401B-1FBB-4C21-B1DB-E0393505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Demanda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3B0083-601B-4413-9D90-5493AD16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Stakeholder define o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problema e o impacto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esperado no negócio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975350-BAE1-4725-A827-124724D0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6101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809F48-026D-40D6-B8F8-8312CBB0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56EDE1-123A-474C-AB57-60DEE78A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CF523C-7D4B-49BB-BAE9-4E04A9EC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3E336E-519B-4179-AE87-4C329063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Análise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B09700-8960-4DEF-BDFA-0DFF660C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Entende escopo,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fontes, regras de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negócio e restrições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operacionais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40AB8D-8ECF-451F-B81E-8B5D0BAC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101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C7D583-2F24-47F5-BF91-C13AB3BE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1E47A0-5E2F-4C11-9704-7E07F068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106112-ECAB-48B4-8E78-7C943EF4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8FB94D-2E4C-4FB6-81A4-87B2A746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Spec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9F6E6A-256C-46C8-947D-9C196F38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Traduz a análise em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contrato técnico: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grain, checks,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incremental e aceite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8C8C9F-454A-41ED-B15A-00B54932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6101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B51C6D-BCDF-4D78-972B-99D04E71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449B9F-D952-4C67-9CD9-EB590D3A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85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4C266A-B4B5-4528-8121-9A423BF2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088D96-79D9-4D6B-850F-0360152D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Implementação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383AA0-B6B0-4AFB-BA76-D1DC4DA2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Claude ou engenheiro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executa com precisão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— sem adivinhar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intenção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7FDFE1-06CC-4726-AA41-D060FD6E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101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A1D66B-8573-410F-B78B-D7FA4C77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C28CC2-176C-4F3A-800C-61788F7D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92D298-B0E3-40F5-9E32-46622B3B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536884-50E5-4C4B-BD6A-41575D7C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Validação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5821D5-3FE7-48AC-9401-4B72FD9A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Checks,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reconciliação 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critério de aceite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fecham o ciclo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CAA7B1-8A6C-4232-ABAB-7906BB0A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2873393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3C83A5-2017-4357-9C4C-B69C8C81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03176-6ED5-4377-83A3-755EA616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DD687-025F-47F2-A64D-3FE517E1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33B8B-8C68-4C12-9F10-CA64C2FB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E1D99-C518-4E8A-A6F1-563A7349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F84B4-062A-4F72-BF30-29E5BA5C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9B264-1DBE-4333-95F3-4FD69B20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B8A69-E7FF-4E36-84EC-F65335A2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FE777-0177-4AC1-8D35-2DB385B8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CFFF8-7C48-47A2-A551-BDCC4D9C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22825-53BB-43AE-B04E-533E54ED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5E289-F380-4F5A-BB9A-00427DEF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ea8ba41c549a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A4986-076F-4133-8647-4A661006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91C8F-7D8F-4487-9BAA-F2ADE38B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SDD NA PRATICA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9A3C2-CF42-488A-AAA7-29972B03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08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2EDD7-4548-45B4-942C-8A83A1C0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A0C48-0A58-4677-B344-06A9DB2C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59600C-7473-4552-9B2A-1ACC495B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810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Um pedido vira contrato antes de virar código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CE289-56FB-4EBC-9DB2-6194A9C3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Esse é o ponto central do ganho: menos suposição, menos ida e volta, mais padrão na entrega.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96382-DF2B-404A-9DA1-9F2047D4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217DD8-CC5C-4832-ABAC-D4CC1A38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889255-2200-485D-A01A-54CE5B54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EB58A9-E975-47B3-B7A9-24297C7B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Pedido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4BD469-00BC-48CD-9787-B2EC245D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Ex.: consolidar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pedidos pagos em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analytics.silver.orders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10B57A-C7A0-4585-8D2F-7C88676B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6101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1E664D-556E-4B89-BDBA-34609C3F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EAF314-5B34-4400-B1B6-C6346DD4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11D4CF-B4C8-423A-AA99-9618DA49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62B0BC-B2D5-4D46-8F73-6D435FC8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Spec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D4D138-8A1C-46EE-B1D9-5C2C9E00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Objetivo, fonte,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alvo, grain,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incrementalidade 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checks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0C3A4A-A29E-40D5-A97B-191E242D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101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838C9A-F0BB-4358-B870-3A8A37D0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4D7495-8451-4801-BD71-086F647F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7605E6-389A-4809-994C-26544033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CD521C-4CC1-4A43-8D36-30750900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Build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82C850-8A52-4060-B827-A52E5039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Claude gera SQL ou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PySpark, bundle, job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ou pipeline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975830-21A4-4A46-9BDA-F70B80E9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6101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0584B9-298F-4D54-85B4-F1FADB6A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20B015-9941-4013-A796-6378B26B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85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39A2D7-F876-4722-8AC5-B2DF0AB6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08F05D-DB34-4FC6-B0C0-01F3342C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Validate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4B0C48-0134-47A2-95A6-140F4A6B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Testes,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reconciliação 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impacto downstream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C51B5A-0674-431D-AB62-3567C263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101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1EFFD3-DC73-4100-AFF3-EFB96D53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A2127D-64A7-4361-A1D1-84171EFA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726A89-FE2F-4F19-9328-2C18B381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0FC6D9-4D03-4C0F-962E-F5B71DBD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Run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17CADE-0C74-4A95-A4D0-7680FB45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Backfill, rollback,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monitoramento 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custo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58C301-BC01-4B96-8FB6-3336E301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1758394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E92CB5-6ABE-4B0B-A370-9D900614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CA489-D0BA-4011-A57C-F7C89E94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09EB0-3614-45AE-A666-D3D74F5A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C0A2E-E535-4617-BF27-0C4685BE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0FE5B-A349-4316-BFCB-292C5A49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7ADE3-F518-4D60-885D-32A5786A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75139-A93E-42F8-95DC-7069E436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24795-0012-4166-9087-A8C43962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AB959-CE52-4BFE-91D6-E3DF7D95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6EB76-3834-4102-8151-27ACF5E3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3E5A6-FBAC-4E72-A08F-9BE7239F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34F59-83FF-4AAC-99EC-B9EEFE3D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ffbb4da794c5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93F94-DB95-407F-A036-5F7AB553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8AA75-9A9E-4B42-B7D2-8CC61F4C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EXEMPLO DE SPEC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21914-0D08-4F70-A633-841392DC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09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9DCBC-8D06-4F01-A43A-B9822C6D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4F9CB0-1D73-4717-B5C0-759206B7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5EC52-E5EF-46AE-8B24-B9B47891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Spec curta para uma silver table no Databricks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C637A-C4E3-4E26-A7D9-B182BB13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Sem isso, Claude precisa adivinhar. Com isso, ele executa com muito mais precisão.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24688E-F406-4881-94D7-6EF12780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6863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C5C8BB-E915-460A-A583-DEB6F4C9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68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7B1D98-C58C-49B1-BA70-367527A6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SPEC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8BF0FA-4478-4D36-B1EC-71061F48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305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Objetivo: consolidar pedidos pagos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Fonte: bronze.orders_events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Destino: analytics.silver.orders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Grain: 1 linha por order_id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Incremental: MERGE por order_id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Late data: reprocessar 7 dias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Qualidade: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order_id único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paid_at não nulo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total_amount &gt;= 0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Aceite: divergência diária &lt; 0,5%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8457AD-197F-43C7-8BCB-6A8E8815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56769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52CC38-B3EA-4EE8-A95E-75481E91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5676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A3C21D-C16A-4FDB-9C9B-95448714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00400"/>
            <a:ext cx="529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138"/>
                </a:solidFill>
              </a:defRPr>
            </a:pPr>
            <a:r>
              <a:rPr sz="975" b="1">
                <a:solidFill>
                  <a:srgbClr val="D8A138"/>
                </a:solidFill>
              </a:rPr>
              <a:t>SAÍDA ESPERADA DO CLAUDE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03B14F-E858-4D77-9C88-7B7EDB9B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52959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1. Estrutura de bundle, job ou pipeline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2. SQL ou PySpark com MERGE e chaves corretas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3. Regras de qualidade e reconciliação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4. Backfill, rollback e riscos downstream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B8824F-EB85-490F-BFF4-A80336CE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4099330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CA4628-818D-4FF6-9245-6667FF7E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FF11D-9A09-43E2-BD2B-1F57B2B8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8DEEB-5FD5-478F-B542-9B287BEE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A58B7-CF2B-4C94-A63E-36D60B1E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29263-2949-4B7A-8928-5762F72F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86605-CCA7-4B6D-A39A-2522E1AA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338B5-E627-44E2-9BAE-A25D15CB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CDF3E-7E60-476F-95AB-A27532AE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08FF4-9C33-44EF-9CF2-65AB4AAF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C61B7-EEA4-473D-9F8E-DE1BCB4E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C229A-1554-4653-B705-043E5A12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965CD-DBC6-4A25-BBE6-C6F84AEB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68f00d9b449c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5A7D5-7698-40F9-9881-F59E4A30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179E1-7354-4C3F-9667-B61A22A7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ANTES X DEPOIS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CE21D-2D0B-4027-89DC-C54B861E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10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53CAB-92D5-43A0-9F03-8417A0D5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58C8A0-7C1B-46E2-BA7A-35D3CBED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EA8239-4492-4BDA-942F-0833DE16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O jeito de pedir muda a qualidade da entrega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6F55E-8A43-45B2-9FF9-48FA1313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A mesma demanda pode gerar retrabalho ou gerar uma entrega muito mais previsível.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455832-FD0A-4D9B-98EF-4858F2FA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6863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71E984-E315-428E-9282-567D7FDC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68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285465-1119-4778-83BA-DAC4F7D5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PEDIDO VAGO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DBF3C8-D9DF-4331-B110-78706680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305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Cria uma pipeline para pedidos pagos no Databricks.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Problemas: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não diz fonte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não diz alvo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não diz grain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não diz incremental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não diz checks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não diz aceite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138C38-1553-4D4F-AE7C-DDCF8A19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56769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90545E-F0F3-489B-9150-87CCCAB6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5676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6D1AF9-72C9-4894-B3FD-89029396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00400"/>
            <a:ext cx="529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138"/>
                </a:solidFill>
              </a:defRPr>
            </a:pPr>
            <a:r>
              <a:rPr sz="975" b="1">
                <a:solidFill>
                  <a:srgbClr val="D8A138"/>
                </a:solidFill>
              </a:rPr>
              <a:t>PEDIDO COM SPEC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9CF7F9-0794-4A78-8B30-1297514D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52959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Criar analytics.silver.orders a partir de bronze.orders_events.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1 linha por order_id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MERGE por order_id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Late data de 7 dias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Checks: unicidade, not null, total &gt;= 0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Saída com bundle, validação e rollback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3796F2-7CAF-45EF-866B-DFBC04D5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2982673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0C72A1-E635-480D-861E-CDF29ACC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61C75-EDAC-45A3-BB27-E674F48F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60280-3D91-4984-83DE-AEA2BCE9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31644-8055-4234-B5CE-BFB3228C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F69BB-908E-449B-BC04-CAFE454C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E931F-1459-4680-8938-6BEAC447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58199-A670-4C3E-82EA-82C3D79E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129DA-BFB9-409F-9D8E-2ABFD957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A25BE-89BC-4B7B-AC9B-35EE27F6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76A08-0D19-4775-A988-1D62F3A8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03034-9C64-46B6-B10A-05F9CF2D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9D4F4-D0F9-4930-BA0C-011F0078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5c4989ca44f0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97C02-7CC4-4F9B-869D-DD71D13A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DC620-3D7B-47FA-B0C6-15C61679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PROMPTING OPERACIONAL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46288-B7C0-4C37-907B-41E5627F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11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9152B-75BF-4C1E-AE06-9A5E4717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390C9-C55B-4482-ADFF-B6D8B6F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70BE6-9861-4F9E-B9BF-C61ED479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A melhor forma de usar IA é ancorar em artefatos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667DB-0C13-40AA-91E1-CCBDF7CE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Prompt bom em engenharia de dados quase sempre referencia spec, regras e formato de saída.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39C53-5367-4A55-83C2-D209C672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6863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36A8FE-FDF3-444B-B91A-6E0FC081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68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B1DF15-23A6-4A60-9504-583587EF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PROMPT FRACO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B70BB4-B091-4A73-AD37-1C5F0C86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305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Gera o código para essa pipeline no Databricks.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Problema: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o Claude precisa adivinhar a maior parte do contexto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a saída varia demais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review fica mais caro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57BA6C-2F4A-4165-A19D-1A9C8870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56769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771DA8-B8F4-4331-A916-2FD57267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5676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3E44B2-05FD-4F6F-8667-95B54A62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00400"/>
            <a:ext cx="529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138"/>
                </a:solidFill>
              </a:defRPr>
            </a:pPr>
            <a:r>
              <a:rPr sz="975" b="1">
                <a:solidFill>
                  <a:srgbClr val="D8A138"/>
                </a:solidFill>
              </a:rPr>
              <a:t>PROMPT BOM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028ACF-7232-4729-B6CF-DE3FFE16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52959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Implemente a spec abaixo.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Se houver lacunas, liste antes de codar.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Depois entregue: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1. bundle ou pipeline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2. SQL ou PySpark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3. validação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4. riscos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5. backfill e rollback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20EB96-C933-4663-A76A-B5D53B83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2724301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4E79AA-42CD-4647-83B1-8A0C1BCB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A3D2E-191C-4711-A256-2F865869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3E478-D640-48EF-9C69-5C302BF9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8BEEE-4444-45E6-BB08-6FAD1F60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0BC2D-1142-4868-B673-BAAECDF6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FEDD5-A529-4F7B-B06F-87FF9522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FD161-F6BF-4392-B59D-0C56AA24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C0B0A-1756-4BB5-A68E-AF6E6EC2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24DD4-1857-41CD-9C68-6F504A4C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09BD7-7ED1-4547-9B7C-776CD9F6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C60A4-D511-4939-9A6A-2B6375F1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4DFFA-D37F-4B49-8783-3CDE0EE6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9fa5733554e5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D4857-90ED-47FC-B734-1BA9335F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0E7408-DB41-4EE0-86D0-0F445551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38200"/>
            <a:ext cx="2876550" cy="518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B74E08-640A-4BBD-B187-251E87B2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SESSAO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2BF1F-CBDF-456E-97E0-8FACF4E4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12 / 38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B760A-E2DF-481E-BB71-52F84491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4E4BDB-210E-4420-9F04-F7417E50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919147-D66F-471B-9613-F47B3220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BD9775-1DB6-4020-8E7E-1D812DBF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19200"/>
            <a:ext cx="6724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CLAUDE.md, rules e memory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27B18-466E-4F50-8EAF-2CA69C14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6496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Depois do spec, o segundo ganho vem do contexto persistente: regras do projeto, memória do time e organização do repositório.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6AD6C1-EBDA-4C05-97CA-A9912975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1920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00" b="1">
                <a:solidFill>
                  <a:srgbClr val="F5EFE6">
                    <a:alpha val="54902"/>
                  </a:srgbClr>
                </a:solidFill>
              </a:defRPr>
            </a:pPr>
            <a:r>
              <a:rPr sz="7800" b="1">
                <a:solidFill>
                  <a:srgbClr val="F5EFE6">
                    <a:alpha val="54902"/>
                  </a:srgbClr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63F4D7-497F-46F3-AF54-53415781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051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A138"/>
                </a:solidFill>
              </a:defRPr>
            </a:pPr>
            <a:r>
              <a:rPr sz="975" b="1">
                <a:solidFill>
                  <a:srgbClr val="D8A138"/>
                </a:solidFill>
              </a:rPr>
              <a:t>NESTA SESSÃO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469AEF-70C3-4AF7-AC3B-62D1B550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099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755210-8FC2-432D-9973-77CC4D78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242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Separar arquivo, regra e mecanismo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9D3649-9E06-417E-9E20-126B03CB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862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433CEE-CB30-47CC-A987-E2355027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005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Modularizar contexto com imports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BD9FAA-EB29-4ACD-9EC3-A7B7F465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625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B75E9D-449D-4172-AADC-9588311D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768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Padrão reutilizável por repositório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2C28E7-A599-47FE-A229-326556F8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5084639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CC847D-E6CA-4C51-86BE-010C039E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CF787-1CDC-45F8-89EC-194A5D05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5BC71-EBDE-402A-8883-D04615B5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2DADE-F35C-414D-8B1E-6238B506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A93B5-0340-4DE9-B5A6-2585A7E1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E5B51-932A-4785-9BC7-7B6AF931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BC4A9-9DDC-44AD-8BFD-E4E6B20E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FEBAB-924A-43EF-9224-C0313B73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E2D54-3645-466C-B0BF-38020CE4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2E423-BA9B-443F-A0A7-39CB66BC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C6E72-C03D-473F-B58E-5F665443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73D4C-5C81-4CFC-A285-AAE43FEF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1c152d5f4497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D801B-48D2-489D-9B68-E3A55C27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42E3B-503D-48D9-A161-D6FA5B97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CLAUDE.MD, RULES,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20977-B710-45C4-BB56-67BEF27A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13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D565B-CBF1-4FB3-B879-F60FD2EF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CE7709-9137-4A7D-AAEE-F84BB469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32DF0-FCD7-4EB8-BF7C-6232F874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Esses termos se conectam, mas não significam a mesma coisa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4C77B6-3C22-4306-85EE-9F1072EB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Quando separam bem arquivo, conteúdo e mecanismo de carga, o uso do Claude deixa de ser improvisado.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95EEB1-8545-45C2-96B1-67F13943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ECA99-F3A2-47D2-A9A7-8DCD8D2D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9B2136-FD7E-4B32-881B-B1D01291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C0E375-14A1-483C-81B7-F97C5A94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E3CBBF-13C8-4A16-B65C-3EDCD7FB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863F44-9610-4D78-8B1C-63011632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FA2904-EADC-4A25-93E4-99134C00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CLAUDE.md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E29057-D5AC-4BE3-A433-D916AE23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É o arquivo onde ficam as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instruções persistentes do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projeto ou do usuário.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AEDD62-AFD7-40DE-AD19-1259F41C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D0AD11-E06B-4C43-A691-8CACAE65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AB76F6-65FB-41F1-9054-552EA411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44B291-701E-436D-853F-D9B0F48B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4A9572-7CE6-4E57-B8C8-C67DB201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D45C06-328B-414F-9BBB-8FAC1C11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D37D49-0DB2-4CE8-8656-082CA9F0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Rules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27CA17-4815-4926-9C3B-FF0AC251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São as regras operacionais.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Podem ficar no próprio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CLAUDE.md ou em rules.md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importado com @imports.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247464-9DA0-4425-B7F4-A59B6A51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BEA560-A26A-407B-9DE6-97437306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B1E91E-1D3D-44B2-B5F4-B3ABF0AE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A6C94A-108A-4E98-BA84-2E96DEC7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53586D-5CFC-43FC-AA92-EF993438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FB7A08-C28C-4FCA-B007-2614A271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5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0B1B48-BEB1-4A5E-9DCF-846E365C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Memory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E5B5BF-CE84-4D04-BD26-F2BA337F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É o mecanismo de carga por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escopo. memory.md pode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guardar decisões do time 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ser importado no CLAUDE.md.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D149BA-4E05-4D55-A28F-4E900C51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18982174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4C5B2D-F4DA-4FE6-ACA7-742C03F9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9B6ED-4E90-48BF-9BE8-13F67D5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3ECBE-DC11-4B8A-8F96-6EACC46D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7DE45-1B8A-44EE-9668-B7725DDC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67310-9AAC-4B4C-ADB6-75C0CC5F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6A513-8916-4B8C-A63E-62DDEC4D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EDC6B-1636-4B95-BAA6-BFC02BFB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20E7E-F8FA-466E-9AD3-CC66D745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984F1-8D71-4322-92C8-6418FF3C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67F0F-D20F-44EC-A500-5F909114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3EE23-CDB2-45B7-AA0E-A0C82E24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EB91E-30BE-428C-8685-CADF21D8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9ab655675415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C47CC-55F7-473B-BD25-E9663FD1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9E134-1320-4E00-A410-287AD355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EXEMPLO DE CLAUDE.MD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DA63C-0162-49C5-AE84-A9363722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14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5123F-00E4-4080-994E-FC86B2DC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9F6F4-EE40-4025-BEA6-48AA1866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96E36-4BFA-43BA-9405-88E309BC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Um CLAUDE.md bom é curto, específico e acionável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BFA4D3-DDA0-4CA0-8B4F-E3EF55C2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O objetivo não é ter um manifesto enorme. É orientar consistentemente o comportamento do Claude.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864A9F-192E-4756-AB3A-8CF9C6B3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6863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BAB97B-F53B-4C6D-AE9D-28C51BD7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68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10E7D7-8898-4AE7-B9B2-C0F148D2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CLAUDE.MD DE EXEMPLO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AE8601-45D8-494D-A791-50F8B018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305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## Working mode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spec first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não assumir schema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listar lacunas antes de codar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## Databricks defaults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preferir bundle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usar Unity Catalog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separar bronze, silver e gold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## Response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1. spec summary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2. implementation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3. validation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4. rollback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6C458D-D1AF-46B0-97BB-10D5FC31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56769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ADF213-1177-4E7A-8238-F39AFC91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5676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D61CE6-0192-4241-A89A-0005AF41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00400"/>
            <a:ext cx="529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138"/>
                </a:solidFill>
              </a:defRPr>
            </a:pPr>
            <a:r>
              <a:rPr sz="975" b="1">
                <a:solidFill>
                  <a:srgbClr val="D8A138"/>
                </a:solidFill>
              </a:rPr>
              <a:t>EFEITO PRÁTICO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CF6D1B-0B92-4EAC-9E53-B072EF51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52959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Padroniza a resposta do Claude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Reduz esquecimentos em toda mudança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Acelera review técnico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Facilita onboarding do time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Permite evoluir o padrão por repositório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50DC31-4235-445C-AAE8-43F7C5F5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6388606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4811D7-EFBD-4B69-A7F8-565F66DD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09149-7F03-4189-82D6-8138C46F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CF7AA-9424-407C-A3D4-8AE232A1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BCD06-85E2-4CB2-B368-4C71B478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86684-B963-4D21-9E6C-5211EABE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B7BD1-9A63-4E24-BBE2-9868CBE0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B7362-2930-4C07-BD8C-F8D4872C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0DF84-933B-4A2C-8DF7-6202E977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7F170-397D-4288-814F-6CD24E1E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20BCA-DEA8-4469-9020-F4F53C5B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D025F-D3CC-434C-8F7F-E5266C38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3D0DF-8C68-440E-A56A-10B0FEE5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c75ebf273455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96C87-3C43-41BC-9094-DCF71591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601F5-EC3B-42DC-A077-1E7EC59C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ARQUITETURA DE ARQUIVOS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9F326-C9AA-45A6-8272-3B4FC18A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15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8CBA8-C480-4FFF-9321-E0C1F5A9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8F579-8086-4523-9F1F-4AC91760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B3449-A761-4E02-95C1-8E46ECFD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Como organizar CLAUDE.md, rules.md e memory.md no repo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7E6BB-E0E8-4E6F-8B59-FF365362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rules.md e memory.md podem ser convenções do time importadas pelo CLAUDE.md para manter o contexto modular.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157DE7-E177-4E5D-99DA-BACD9A79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6863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8FD28F-4CFB-4959-B164-EC2CC93A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68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4AA819-CAFC-4C40-A97B-1FE6D2DD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ESTRUTURA DE EXEMPLO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8841E1-EEAF-4F42-BF83-8F984A07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305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.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|- CLAUDE.md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|- docs/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|  |- rules.md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|  |- memory.md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|- .claude/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|  |- agents/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|     |- databricks-platform.md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|     |- api-backend.md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|     |- spark-tuning.md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9502F3-A4EA-414C-A15D-C7905E7C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56769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491447-DE51-4855-9364-E59354E1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5676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D800CC-C59E-461E-BA60-326354D6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00400"/>
            <a:ext cx="529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138"/>
                </a:solidFill>
              </a:defRPr>
            </a:pPr>
            <a:r>
              <a:rPr sz="975" b="1">
                <a:solidFill>
                  <a:srgbClr val="D8A138"/>
                </a:solidFill>
              </a:rPr>
              <a:t>CLAUDE.MD (USANDO IMPORTS)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D4C1F5-1600-4552-914A-36E823E6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52959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# Instruções base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- spec first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- responder com validação e rollback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# Importar contexto modular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@docs/rules.md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@docs/memory.md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# Agentes do projeto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- usar /agents para criar e manter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5E2442-BE1F-432A-9B45-46BEE0BB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14726205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826044-2453-4CD7-BD43-AAEA6B89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4C506-E1FB-4E44-9B49-C9A8A07C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8A6CB-4926-4275-A3F6-8D79F1CB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DA538-1D92-4D2B-9531-C6014731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15C16-0F3A-4529-820E-5281AA47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6B985-97C3-4FE5-8980-CA2D1EC5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3684F-D168-43BE-9C06-71655C06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489DB-C23B-4080-9E05-75B477F1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86D9C-E90D-466B-8D4D-E610A73B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B8F5E-707E-4586-B9E4-C82AC494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ABFBB-6331-42F1-9492-6C84BC74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AC5B1-2F94-4438-B139-45E7377A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e3e2dc94a4b8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7639C-920A-4109-9679-855C5B94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7C644-A87C-43ED-821E-01A2A8CF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38200"/>
            <a:ext cx="2876550" cy="518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813A9-0E4C-449A-8B0E-53D8A01C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SESSAO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39DEB3-3544-4080-A0C3-3B27FC3A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16 / 38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CC6A0-627A-4502-A64A-1B22F50F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24D9C7-7BAD-419A-817A-8359D56C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77BBD0-9175-44E5-A7E3-C2DB20F6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AD0156-749E-4B94-A485-071C0B4F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19200"/>
            <a:ext cx="6724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Agentes e especialização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6059F-ABA7-45D9-80A8-AED3ED3F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6496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Agentes resolvem a próxima etapa de escala: distribuir responsabilidades sem perder o contrato central da entrega.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098EE-0818-4B77-9018-C2F7A95E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1920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00" b="1">
                <a:solidFill>
                  <a:srgbClr val="F5EFE6">
                    <a:alpha val="54902"/>
                  </a:srgbClr>
                </a:solidFill>
              </a:defRPr>
            </a:pPr>
            <a:r>
              <a:rPr sz="7800" b="1">
                <a:solidFill>
                  <a:srgbClr val="F5EFE6">
                    <a:alpha val="54902"/>
                  </a:srgbClr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781CE2-9518-42E6-B2FE-9C5DEDEE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051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A138"/>
                </a:solidFill>
              </a:defRPr>
            </a:pPr>
            <a:r>
              <a:rPr sz="975" b="1">
                <a:solidFill>
                  <a:srgbClr val="D8A138"/>
                </a:solidFill>
              </a:rPr>
              <a:t>NESTA SESSÃO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CB2673-CE80-4600-B307-6D68A67D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099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9ADA60-47BA-4AAF-ABCC-0512041F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242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Como criar agentes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8804C7-87BA-463F-9FD0-E6F1A767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862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36FDC-8BB0-47B8-AF01-C50FC5BF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005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Como definir skills na prática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6F4A14-26C9-4BA6-B8AE-10282770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625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2C7835-2CFD-4196-BFEE-08CE7E96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768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Uso explícito e delegação automática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0733C0-380E-41CD-8CF5-1F813B75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3020027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641B5-6038-4753-BF0C-6B6448F9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2FBD5-3FBA-4C2E-A00F-54CA2377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86DA1-E8C5-4306-ACB8-EDE1D112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3ECF0-196B-4EA3-B1B3-40E9F651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2ED72-3545-4B88-9780-83439454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D32FF-25A2-4AEC-8A6A-D8BC1352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8FE7E-38C6-4ADB-81B9-70DE5B30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56E7E-536A-4961-B88F-7D4D1EB3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A604B-6161-48B1-9820-833A7DCB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D9669-BBF8-46CC-80C6-FD8F3CC1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332CC-38B6-4CD3-A2FD-C07E3CEB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97D4D-2D5B-4FDB-B18E-7EE51DBE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5a8a49b6e40c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A241E-64B9-4C76-9DF7-383EEEFA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7A7C99-EC3A-4021-8896-6524D0F2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CRIACAO E USO DE AGENTES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F277C-9A74-4A86-A136-AD23ADFE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17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589812-B3A7-4C02-8747-784A1374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7FE38-3B18-4A94-8EA1-4645A2B7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8E434-FE8D-49D3-84B4-289DBD4F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810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Passo a passo para criar e usar agentes específicos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4F6550-EF58-48F2-9661-C852D26D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Em vez de improvisar prompts longos, padronize agentes por responsabilidade e ferramenta.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A8BEE6-0C4D-4EC5-BFB7-45EB5DE1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ED1DD3-2470-4214-AF17-560F12C6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F9092B-304D-4376-8713-03E89916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DA65C6-B11E-4BB4-9273-067FB3CD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Mapear tarefa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7481DA-B7DB-4127-A020-1D72E718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Ex.: tuning Spark,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API backend, review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de qualidade de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dados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32DB74-0EEB-42D4-8DF6-8DE4B847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6101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77EAA5-FBFD-4D56-89C5-87B4EC16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0BAE64-1778-4BC0-9738-ED7A3D39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986A6C-6693-4FE4-8D0C-A5CADD08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E0B05F-2CD6-4D7F-8DA5-49333AD7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Criar agente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B8A4E0-852A-4356-8352-C7827631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Usar /agents 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definir nome,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descrição, prompt 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escopo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507E15-54D1-4354-8935-56408DB8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101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DEFA4B-A114-435D-A3A7-9961F9EA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31C7BD-DBCF-41BE-BA4D-6EF548DD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80583D-D964-433E-AC86-25FDD834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9DBC8C-29F8-46A2-B686-63F7E0C7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Restringir tools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304078-D8F0-4E57-95D4-52B9E294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Liberar apenas o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necessário: Read,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Grep, Bash ou full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quando fizer sentido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D2AD8A-B6F8-40FE-974C-7E729CF1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6101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C839A3-6EFF-47B8-87A8-53532950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AD817E-3068-4174-BB98-025CEDFF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85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FAB189-B6AA-4D79-B0E3-E98E4E86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7B249B-1540-4573-B3CD-0ED80B67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Testar uso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070B95-64C7-47F8-8087-EB1D6D0A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Invocar em tarefa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real e revisar se a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saída segue o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contrato esperado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DC9875-029B-4853-8926-F127D05E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101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30E5D2-166F-4FBB-B52D-891E4E85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E5FA41-464E-4FCB-8859-AC7A8483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D477D8-5733-43F4-A3A8-A06A78EF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617376-64C3-493A-8243-959BE5DF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Evoluir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799DB2-43EF-4979-9BFA-14CCFB78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Ajustar prompt 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limites com base em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incidentes,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retrabalho 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qualidade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FCFF66-36C0-4961-8BC6-AA77DB2D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17808296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273A73-AA6B-4599-A8FD-0B0CFF95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B5626-E2B6-427F-AA01-FF7F9585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FE06A-BFFE-4D11-AF43-E44C3F0E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50D04-22E3-4433-9EE4-92C13957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D4207-722F-41CF-A5AF-6C6164E8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25200-3A38-4475-9B4A-D293ECC4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DAACF-7003-4574-8387-209862F0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E73EC-7918-4F8A-9C26-4E9F1543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4CA87-002E-4423-8482-9784BD1B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FEDD3-EA33-44FC-A334-023AA922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64FB3-8213-4979-B5DF-387DDC3A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63285-F269-4ABD-9883-645DFF75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486cbfa2544e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BEEE6-AA45-4C6A-9A90-F84CF020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EC949-128F-4B56-9966-73F45139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EXEMPLO DE CRIACAO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01963A-042F-47D0-A6A0-75372D00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18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FE65B-79ED-44FE-90FA-43EAADBC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A66F7-24AC-4811-8020-5A9A0605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512F55-E062-4F79-885F-6C6EFBFA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Exemplo concreto de criação de um agente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B31E40-3A70-4C1D-8A23-C876AB96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O time pode criar agentes pela interface ou diretamente por arquivo Markdown com frontmatter.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4802BB-9D4B-4C25-B328-B5A6A315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6863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06581-34F2-48B2-866D-3D1CBED1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68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B62FA9-C652-4883-BDCA-B50005E2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CRIAÇÃO VIA /AGENTS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C4612E-C6BE-44C7-B96E-988156CA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305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1. Rodar /agents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2. Escolher Create New Agent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3. Selecionar project-level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4. Name: spark-tuning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5. Description: Use proactively para tuning Spark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6. Tools: Read, Grep, Bash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7. Salvar e testar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BDD2B8-5AF1-41ED-9A86-76BA294A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56769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9507DA-5ADC-417A-B2D5-AEB779B5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5676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E9FBC8-764F-4C92-AF58-217CB48A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00400"/>
            <a:ext cx="529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138"/>
                </a:solidFill>
              </a:defRPr>
            </a:pPr>
            <a:r>
              <a:rPr sz="975" b="1">
                <a:solidFill>
                  <a:srgbClr val="D8A138"/>
                </a:solidFill>
              </a:rPr>
              <a:t>CRIAÇÃO VIA ARQUIVO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F3EB08-22D3-4DCE-88E1-8880A224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52959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.claude/agents/spark-tuning.md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---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name: spark-tuning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description: Use proactively para tuning Spark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tools: Read, Grep, Bash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Você revisa shuffle, skew, merge, explain plan e custo.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10F5DE-0AB1-4B20-8BD2-C615DADD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11649191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3C5819-B896-42F7-8E73-D73CDEF4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C0D86-1F0F-40FB-ACDF-B86E9820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DDB79-7A20-4203-BF0B-6741A207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08239-8D35-4480-A5AE-617A7BEE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308E7-0782-4A53-943D-929A111B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0FE96-A2FF-44D6-8EFB-2D2169BA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743CA-4F77-4152-953A-44F4112B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5B312-E857-477B-96D0-CB904626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4449D-3B83-4D84-8F6D-0D06AFFF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91E0D-151A-4917-961C-D970785F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02A97-9245-4932-90CC-46025FB7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F8A25-3738-4A97-AE78-C18EA319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723f289df4d2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C083E-6E46-4349-98B7-F7B2B977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F02CD-BFEE-4500-B79A-35B2655B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IMPLEMENTACAO VIA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9AFD8-EBD4-496C-AB0D-E059895D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19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02A92-FB75-4FBF-8863-5CA60C99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5E2D0B-C113-4CDC-B711-D82ECAA2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2B4047-E2E5-4201-978A-F3420B0C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Para quem constrói produtos: agentes via Anthropic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B22369-4A11-474E-BD5B-AAD5BABE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Além do Claude Code, é possível criar e orquestrar agentes diretamente pela API — para pipelines automatizados e produtos internos.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7BEB8A-383A-4D80-8254-5D576A6F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6863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505E77-E2A0-467B-BBB1-16859F48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68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50F76-DAB9-4D22-9F0E-A38CF6DE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CRIAR AGENTE (UMA VEZ)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B00B68-F94B-4C69-8393-2F87EDAD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305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agent = client.beta.agents.create(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  name='data-quality-reviewer',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  model='claude-opus-4-7',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  system='Você revisa checks, '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         'reconciliação e rollback.',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  tools=[{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    'type': 'agent_toolset_20260401'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  }]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)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# Guardar agent.id para reutilizar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3E90C7-B138-4FCF-BDD8-0D86D7C1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56769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250BDC-B36D-4160-A5DE-94954FF0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5676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040880-2231-412B-9F3A-63690EE0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00400"/>
            <a:ext cx="529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138"/>
                </a:solidFill>
              </a:defRPr>
            </a:pPr>
            <a:r>
              <a:rPr sz="975" b="1">
                <a:solidFill>
                  <a:srgbClr val="D8A138"/>
                </a:solidFill>
              </a:rPr>
              <a:t>INICIAR SESSÃO (CADA EXECUÇÃO)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3CC93C-1963-413C-A14C-319A0F2B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52959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session = client.beta.sessions.create(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  agent=agent.id,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  environment_id=env.id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client.beta.sessions.events.send(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  session.id,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  events=[{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    'type': 'user.message',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    'content': [{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      'type': 'text',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      'text': spec_texto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    }]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  }]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6457C1-42C3-4D8A-89AC-92CD2D35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12729722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75693B-F771-4A45-9254-225927C0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20702-79BB-4BCF-AB3D-5D66BAC6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A6885-7D66-4D94-9084-A20224F9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0213C-1275-431A-824A-86F2A974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F4680-EEA0-48E0-B0FD-5557C608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7E2BA-B0E8-4016-8402-29561B8B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1E319-1D00-4154-8570-FB067201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9C6E5-89A3-450C-AB60-D2D33FA4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3A8E9-1398-401A-B79F-DCF1CA04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1DACB-156C-489F-BC3E-8F08F2C2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7A58C-7612-4B94-9D61-907202AE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5F82E-70FF-4D82-9292-2A9763F0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995441faa4fd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B4E2B-3EFC-4D4D-B5EE-32EB0577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39120-58BB-4B96-BCDE-6DCD0072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ANATOMIA DO AGENTE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F4EED1-4C98-40F7-95F2-68989DA5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20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C9BDFA-C919-491E-B7CC-877A344D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005CC-343E-4ED7-9788-FB388FF6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16759E-2A00-4882-BC93-EAC40A73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A skill do agente nasce de três elementos combinados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8DF778-DB50-4D9E-ACB3-B1E35766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Não existe campo formal chamado skill. A especialização vem da combinação de gatilho, escopo de ferramenta e prompt.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F5736-10F4-4E2E-999C-268FDA24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6863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CE865F-7F54-4A60-9EC8-D761BFB3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68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96A92B-A781-4F66-9932-88896718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ARQUIVO DE AGENTE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E4974-7DCD-46B1-BDBB-B7139A97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305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---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name: spark-tuning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description: Use proactively para analisar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custo e performance em Spark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tools: Read, Grep, Bash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Você é especialista em Spark no Databricks.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Sempre revise partitions, shuffle, skew,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merge strategy, explain plan e custo.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C5987A-BCF9-402D-AB17-649A40A8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56769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37A7B8-33AE-4F4B-B4FA-AA45FA08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5676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F806E7-8185-4AC5-A973-ED795E07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00400"/>
            <a:ext cx="529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138"/>
                </a:solidFill>
              </a:defRPr>
            </a:pPr>
            <a:r>
              <a:rPr sz="975" b="1">
                <a:solidFill>
                  <a:srgbClr val="D8A138"/>
                </a:solidFill>
              </a:rPr>
              <a:t>OS TRÊS ELEMENTOS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2B7AE1-6542-4F88-8773-2A6207D1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52959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DESCRIPTION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Define quando o agente é acionado.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Uma boa descrição melhora a delegação automática.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TOOLS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Definem o alcance. Tuning não precisa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escrever — apenas Read, Grep e Bash.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PROMPT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Define o que ele sabe, como raciocina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e o formato da resposta esperada.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951E58-01C1-4EFA-8F20-5EDA084E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5296962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22B8CE-F22F-4A58-A5C4-28B13F90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3BADC-AA22-404B-A1E3-3F852D24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5BFBD-447D-4F33-B912-27C8A9E7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780C8-C56A-434A-8194-7A53398B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3DA4E-BCFB-4D88-8350-8771B0A9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3B5A2-2509-4D6E-9855-BFD5AB36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912A4-40C2-4D64-9009-FA826F14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121F6-2867-426E-AB07-ADE46B5A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D8679-8B74-4B85-8238-E851A062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F8B48-B544-4775-97E6-2271D939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EF11C-BF69-4AAA-AE08-2C97F2E7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CE11D-08B0-4EF3-B69A-5EF79C3C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e94bfbe54446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28839-6CFD-4723-89E1-45DB3565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D9C5B-C20D-4EF3-AFCF-A2F9CD83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EXEMPLO DE USO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4D345-D4B9-44A6-9C89-D2CD73A2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21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44A3E-575B-48FB-858F-EE87525E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1720C-E043-4CA6-AF9E-51D9D407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FBAA55-10FD-48B3-8B23-A99F88E1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Exemplo concreto de uso explícito e uso automático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67A0E1-2B57-4292-BBC4-079A575C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Depois de criado, o agente pode ser chamado diretamente ou acionado pelo Claude quando a tarefa combina com a descrição.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003F1C-A6DC-43F2-B6D6-D7FE342F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6863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D9D6CA-5E4F-4C66-B746-0521A32F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68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32CB93-93D1-4389-882C-BDBEB44F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USO EXPLÍCITO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E3A808-735C-4DDE-A4F6-AC25C535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305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&gt; Use the spark-tuning subagent to inspect the MERGE in analytics.silver.orders and point out shuffle, skew and partition risks.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Saída esperada: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hipóteses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checks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recomendações</a:t>
            </a:r>
          </a:p>
          <a:p xmlns:a="http://schemas.openxmlformats.org/drawingml/2006/main">
            <a:pPr algn="l">
              <a:defRPr sz="975" b="0">
                <a:solidFill>
                  <a:srgbClr val="101828"/>
                </a:solidFill>
              </a:defRPr>
            </a:pPr>
            <a:r>
              <a:rPr sz="975" b="0">
                <a:solidFill>
                  <a:srgbClr val="101828"/>
                </a:solidFill>
              </a:rPr>
              <a:t>- risco das mudanças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7228F0-2ADF-4B6D-B17D-757DA94D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56769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3F258C-0A4A-43D2-B201-D30254FB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5676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383171-0FB2-4225-9A3C-60ACD23B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00400"/>
            <a:ext cx="529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138"/>
                </a:solidFill>
              </a:defRPr>
            </a:pPr>
            <a:r>
              <a:rPr sz="975" b="1">
                <a:solidFill>
                  <a:srgbClr val="D8A138"/>
                </a:solidFill>
              </a:rPr>
              <a:t>USO AUTOMÁTICO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63695A-BF4A-4325-8531-F8B2DD0C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52959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Pedido principal: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&gt; Implemente a spec abaixo no Databricks e faça review de qualidade antes do merge.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Se a descrição dos agentes estiver boa, Claude pode delegar para: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- databricks-platform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- data-quality-reviewer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527076-7403-4F58-A2C7-1299A172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18347585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758A55-0419-4BB3-9164-70CD39EB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83C9D-F572-44F3-AF25-8947864E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49DAA-BC6A-4AA1-93F7-D7FC9B31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E7488-3E9D-4542-8E53-D5F674CF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BA6B3-A009-4628-A71D-25822CF0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A95EA-1070-4C82-994E-8719BB68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B0ECE-37AF-479D-91CD-0607F93C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59278-374B-40CF-A773-62B70D4B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DDB47-DB87-49C5-9517-D16B9611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CDB43-27BC-4573-8975-15081F9F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D1637-FE61-4D76-A44B-C8B61D98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24877-FAF9-4791-9244-BC544890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eac3d0fdc471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1C2EE-8464-4F0A-BD0B-08DA79FD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5E7549-2A4C-44AF-91B1-DA52BFEC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CATALOGO DE AGENTES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F14C1E-7692-4653-A6FE-F01AD301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22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A49DB-C410-4232-BF68-60193EBC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F7C1B-63DE-4047-A8B9-A2A2FAD3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E1528A-D7D1-44C5-8C94-49CD4D54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Um conjunto inicial de agentes faz sentido para o seu stack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0E3093-47B0-43EE-8100-5EE3B5DA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Não crie um agente generalista para tudo. Crie agentes com responsabilidade clara.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FCFBB-9255-42B6-8560-9002AA3E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5219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8B06C4-2C20-4DF3-A7F1-D2E8FEAE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6A0965-BF21-4251-B16F-D89730D7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1FE0F6-5676-4157-903F-8D47FDED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38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469805-E630-4FDE-860D-8378E522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362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5F4727-FDEF-4CBC-9BB4-71A58451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95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E5E725-714E-46B7-B5F8-E29CF5B2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62300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3381E"/>
                </a:solidFill>
              </a:defRPr>
            </a:pPr>
            <a:r>
              <a:rPr sz="1050" b="1">
                <a:solidFill>
                  <a:srgbClr val="A3381E"/>
                </a:solidFill>
              </a:rPr>
              <a:t>databricks-platform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847EDB-7A6E-48B6-96CA-4D1A0C62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483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Cuida de bundles, Lakeflow Jobs,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declarative pipelines, UC paths e deploy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por ambiente.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1153F4-B7CA-4771-8A20-6B945E97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5219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64730B-4CBF-4DF5-802E-49427091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B5FE06-5F55-46C9-A5A3-711F6A43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62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21AA31-4275-4F7F-BE77-25F48887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562D0A-7D12-4EC8-8C5A-E879CD0C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70984E-C79F-4356-B1D8-86853EBB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A755B9-8B57-4ED1-81AC-EA6FECF2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62300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3381E"/>
                </a:solidFill>
              </a:defRPr>
            </a:pPr>
            <a:r>
              <a:rPr sz="1050" b="1">
                <a:solidFill>
                  <a:srgbClr val="A3381E"/>
                </a:solidFill>
              </a:rPr>
              <a:t>api-backend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86F616-51B5-427D-B58F-06FE0FA7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483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Implementa APIs para consulta, serviço de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metadados, autenticação, contratos 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documentação.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82A79C-DF60-4ED6-8332-631331C9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219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BE24AD-9440-4B73-90B3-BDB59713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F02684-A7F4-4CCE-9BAB-223A5FA6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05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4DBDA9-C18E-45CF-A17E-AB4346EB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48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D7B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5F3F1F-B6DB-40E4-B355-DC53B17C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737AC6-B601-4B5B-9BBE-0E0E934A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19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5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80428A-5D97-4B09-A478-11A7134B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05350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3381E"/>
                </a:solidFill>
              </a:defRPr>
            </a:pPr>
            <a:r>
              <a:rPr sz="1050" b="1">
                <a:solidFill>
                  <a:srgbClr val="A3381E"/>
                </a:solidFill>
              </a:rPr>
              <a:t>spark-tuning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B76F5B-664A-4FA2-8630-93DD82E4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483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Analisa shuffle, skew, partições, merge,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storage layout e custo de execução.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61C848-5C98-4231-B9C6-F706A3F8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5219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413CD2-0BE4-49BF-95AF-67F3899F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BF4C6B-94E0-42E8-A879-97DB0FF2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05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8AC460-64FE-459D-90F2-7D3EED69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81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DF1BBC-4240-46FD-A9B1-3777AB1F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905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3FD780-FEE5-4765-A122-623FD064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38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56BA14-865C-4676-8661-D1A6E8A3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05350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3381E"/>
                </a:solidFill>
              </a:defRPr>
            </a:pPr>
            <a:r>
              <a:rPr sz="1050" b="1">
                <a:solidFill>
                  <a:srgbClr val="A3381E"/>
                </a:solidFill>
              </a:rPr>
              <a:t>data-quality-reviewer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37AF89-B81E-41D8-8695-48492081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0"/>
            <a:ext cx="483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Revisa checks, impacto downstream,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reconciliação, rollback e sinais de falha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silenciosa.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75491E-B8AA-4A9F-8511-9A718B3A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12847919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531398-2763-4EEE-A8C2-F10BE982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CE948-2C6D-4096-912F-A8F4FD40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F32A7-DE04-4440-8976-CE4400ED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5AFB0-1BA6-4707-875B-1B0C3E35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2A81A-CF12-4DD6-B74C-AFF6B69E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8618F-738B-49C5-8444-96143A51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3F0F7-E8C8-434E-9F77-BC6BE26C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20AA3-06A1-41C6-BEE7-8B9795AD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D6F8B-DCC1-4A81-81E5-0C95D815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AB26F-4095-45CC-B120-D14DB06A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DDFD3-C3AB-4E5E-B499-903C80DF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10877-3539-47DA-972E-2EA75D52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980fcd7f44d4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819AA-2E38-4460-AB12-815FB45F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9C6786-A6A4-487E-8FE9-7EEB8FDC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38200"/>
            <a:ext cx="2876550" cy="518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C6F0E-F75F-42C1-ABAD-8B336DBA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SESSAO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8C8D84-A54F-4CBC-AC0A-AFF7316D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23 / 38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9C894F-03EE-4BE7-A700-0EA07DA4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9970F-BBEF-421D-B46E-6CA82F7A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DCFE7-4637-4622-B982-699C00FA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0FEABE-5D81-4D7A-849B-5534E011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19200"/>
            <a:ext cx="6724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Casos de ganho e produtividade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44487B-3AC4-4F2A-8384-443DFD9A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6496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Com contexto e agentes definidos, a conversa muda de teoria para ganho concreto em Databricks, APIs, tuning e qualidade.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DE586A-2CE3-445B-B440-D26B5AB8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1920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00" b="1">
                <a:solidFill>
                  <a:srgbClr val="F5EFE6">
                    <a:alpha val="54902"/>
                  </a:srgbClr>
                </a:solidFill>
              </a:defRPr>
            </a:pPr>
            <a:r>
              <a:rPr sz="7800" b="1">
                <a:solidFill>
                  <a:srgbClr val="F5EFE6">
                    <a:alpha val="54902"/>
                  </a:srgbClr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AC75DC-69D5-4A52-8E70-720A865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051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A138"/>
                </a:solidFill>
              </a:defRPr>
            </a:pPr>
            <a:r>
              <a:rPr sz="975" b="1">
                <a:solidFill>
                  <a:srgbClr val="D8A138"/>
                </a:solidFill>
              </a:rPr>
              <a:t>NESTA SESSÃO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F3BB55-F079-453B-9157-50B8A734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099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B037FA-5040-4388-A8E8-505D3AFD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242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Databricks e padrão de plataforma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A98905-B6DD-428F-97E7-C83BBDE5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862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8C28FE-DEF0-432B-97E0-5EFD221E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005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API backend como acelerador de consumo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DC5F49-1994-484E-A1D5-27135D79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625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264ED9-5A30-4C40-A7DA-C046F876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768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Tuning, review e documentação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301CEF-5B7F-4964-84FA-D2F40C29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213212486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E845D4-2496-44F7-BE8D-51336F4E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91021-8FAC-4193-A438-F677A203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2108A-3ABA-4BB4-BCE5-2E7A371F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D0729-4EB6-47CA-9222-288CD5D5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8ABFE-50BF-43FA-8622-A05CBED0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EB23E-5FF6-4E2D-ADF8-F62E77C2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742B3-D49C-4FD7-BF50-C1D22545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6932D-A297-4B1F-A06D-519F7676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6C679-77F8-49A8-90A1-E9FAF411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6EAD7-0832-40AA-8914-7629B2F2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DC016-1669-40CD-A2B2-8D64E2FD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58D8E-5852-4B02-942E-4E3A01E8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1274008cc435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C12C4-F996-4078-A935-5E54BD93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B67C2-9EF0-4FE2-9455-B76DD6BF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DATABRICKS COM 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D73D13-F746-499B-9382-6994765C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24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C9DBB-CD4A-427D-884B-5C42EE69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1D685-C553-4E4D-9504-546FD421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2545E-01AD-41C3-8A1C-DE546394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No Databricks, a IA ajuda mais onde a plataforma exige padrão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DAAE21-494B-4DE7-9E15-7664A2EB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Quanto mais repetitivo e estruturado o trabalho, maior tende a ser o ganho de produtividade.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175EAA-5265-4ECA-990D-413E5E4B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5219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64691-9086-4616-BB34-1775DB2F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F62D7-C62B-4996-B058-3C6EDC6C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CFE1E5-3106-4E66-92B4-BB13999E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38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896C79-04D8-464E-9496-7661BE2B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362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4CA87D-99B4-4EFB-BA4C-3B0F7FBF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95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08506A-D847-4D61-AF27-2659CD33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62300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3381E"/>
                </a:solidFill>
              </a:defRPr>
            </a:pPr>
            <a:r>
              <a:rPr sz="1050" b="1">
                <a:solidFill>
                  <a:srgbClr val="A3381E"/>
                </a:solidFill>
              </a:rPr>
              <a:t>Bundles e deploy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9074EE-1DF0-490D-B9F2-628CD53B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483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Cria targets, estrutura de projeto, jobs 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parâmetros com muito menos trabalho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manual.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91F477-F094-4E91-AFFC-5CCEB224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5219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C6632F-3583-44FB-9D6F-53A7165C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4850AA-9F0D-40F4-B293-2023E9AC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62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8B6CB6-1B76-4347-9C3E-9386521D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8A712E-6089-4BA1-9ED9-D34829DF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22ECAF-43BA-4593-837D-0CA81977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314AAB-CFC5-4CD8-9267-34133B5B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62300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3381E"/>
                </a:solidFill>
              </a:defRPr>
            </a:pPr>
            <a:r>
              <a:rPr sz="1050" b="1">
                <a:solidFill>
                  <a:srgbClr val="A3381E"/>
                </a:solidFill>
              </a:rPr>
              <a:t>Lakeflow e pipelines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9C3AFB-1267-4871-B737-64F81519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483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Acelera criação de pipeline, ingestão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incremental, contratos e validações.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37D3D1-A359-4F2A-9AA0-00BE90E6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219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E7C56D-5679-4B47-8C72-ECA3A248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B67CD9-EE54-4047-A785-DA9B04C2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05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1ADFD7-44BC-45C4-A51A-E8E50EFB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48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D7B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DF832C-9AD6-4542-8641-1CC7D53F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36BA88-9158-433A-A1CD-86043FAE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19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5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06DF8F-E873-4C65-9F4C-A912959D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05350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3381E"/>
                </a:solidFill>
              </a:defRPr>
            </a:pPr>
            <a:r>
              <a:rPr sz="1050" b="1">
                <a:solidFill>
                  <a:srgbClr val="A3381E"/>
                </a:solidFill>
              </a:rPr>
              <a:t>Unity Catalog e nomenclatura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8BBEE4-CA79-4BA6-8663-E8C46706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483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Ajuda a padronizar paths, objetos 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impacto entre ambientes e camadas.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DE7D81-C91D-497C-AB9B-82CED916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5219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815D31-68CD-4A0C-9CC0-70CABFAE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0D4B1E-289F-4746-9970-3C2AA392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05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AE78AF-E767-459A-92DF-E88CDF37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81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E6D99C-FCA5-443A-AF8E-775771BD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905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01FBCC-895B-4308-85C5-718050E6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38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E28DF1-4C33-4E98-8D14-43AECE76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05350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3381E"/>
                </a:solidFill>
              </a:defRPr>
            </a:pPr>
            <a:r>
              <a:rPr sz="1050" b="1">
                <a:solidFill>
                  <a:srgbClr val="A3381E"/>
                </a:solidFill>
              </a:rPr>
              <a:t>Troubleshooting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05001E-2DA9-4ABB-A21E-1F5D6CD6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0"/>
            <a:ext cx="4838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Resume logs, levanta hipóteses e guia a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investigação de falhas com mais rapidez.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7F16A6-8E23-44A9-88EA-51A19A7A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97913115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73E58C-7E92-4837-81E0-3C6C9428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37050-F0A3-4EC0-B5E2-FEC969AF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9950A-1B17-4EAB-9B92-0D49144B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128D1-6472-4258-9A2F-52ECB719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17AC3-F374-4CD7-BC27-68F1FE13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1B87A-B182-41FA-8EB4-099786B5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FC945-68A2-40D6-BE04-5BCF806B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59278-337D-400D-AE0F-3F1C927A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DCBD8-7B5C-4CE1-A886-F5816778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DB90A-4B0E-483F-9463-DA04EEA5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6B180-6409-46DA-BE60-A68C1D8D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33F73-1FF3-466B-82B0-0CE67D69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9ea2960554f3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913C9-33A5-454C-BAE6-3024A31A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AE76E-7C74-490E-ADDB-DBEC5F7B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API BACKEND COM 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4838F-8B03-4B14-A50B-B9A28106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25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24391-FC58-47F5-A311-1FBC9BD4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79A92-F0D3-410F-89A2-3659BE6D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90C4A0-014A-4313-9602-342EF0B7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Desenvolvimento de API também fica mais rápido e mais consistente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245BE6-FD25-4B12-9DE7-17B77D45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IA ajuda tanto no scaffold quanto no contrato, no teste e na documentação do serviço.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21457-688F-4C19-B89B-A65D67F3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2EC42-07CA-4191-B735-FDEA9325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1E07D3-400D-4D9F-8B93-DBD4824E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01AE4-494B-4A4C-8BEF-300345B7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9AC5A8-861F-4FFB-BDD4-FD53772B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410B49-843B-4A31-B85A-29280AC8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B01E87-E5B8-4393-B845-6F2C60EE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Contrato e endpoint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76E18A-D55F-4C9C-B092-6B8A6DB2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Acelera definição de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request, response, filtros,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erros, autenticação 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documentação.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251CD3-2144-4190-B84B-8F7BA204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6D68E1-99C5-4D5D-987A-97304B1C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EF172B-D5EE-4DB7-8C4E-A6428AC8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EB2233-BD9E-45C2-AC3A-617EF6D9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450459-F79B-4512-B6ED-0BFD7807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2C345A-BE58-419F-85F5-298AA4DA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22588E-62AC-46F9-97E5-19F28998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Implementação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D0F742-6F1B-4E99-9BDF-CE106A88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Ajuda a gerar handlers,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serviços, validadores,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testes e exemplos de uso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mais rapidamente.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7BD859-9CFD-44ED-A4C9-8E1E50ED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4E5CF2-ADC3-43F5-A5FB-76F4DAAE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25A4A7-E4D0-4371-8C8F-31B330F3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2AAD73-F4FD-4018-BADA-03056F12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D1A5BC-2702-4706-B42D-BD6F68DD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6E9FE6-8031-4AEC-864C-B48998D2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5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977606-1FC2-42E5-A6AE-5CF92D02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Review técnico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16FA7C-15EC-45D9-9CC4-984081A3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Revisa breaking changes,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casos de erro,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observabilidade e impacto em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consumidores.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6B3C46-60F1-4B66-9D78-3817396B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156871582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4B1810-5FC7-49C1-89BA-64E299E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E68FC-D50F-4AF3-848F-DD314B68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0070B-098B-495D-A436-54A10719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0F759-E057-4ACC-84DF-2683BCE6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56B89-EA03-46DC-9752-507EAB7E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31BB2-DDF5-4B5B-B572-04F364B3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267EF-FF81-4275-BAC4-6E96E225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40DB3-8D9C-4D57-842C-5BFF3380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E97D6-A100-424D-8369-41B9BD00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7B393-EB16-4014-ABD6-72125D72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AB9D3-101F-46E4-81EB-4D212325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9FE81-B1C2-460C-9500-910CFDE2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b84e203024c6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6CA5F-6562-418E-B965-5FF4F16D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FAEB1-9C04-400A-8B80-9FF6882B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SPARK TUNING COM 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4177E-0770-42D0-8604-3A556758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26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7A45C-820E-48D5-9147-40C79E74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E16CD-C7C0-4C8F-8777-B9AE1521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4257F0-9238-4C12-90C8-BC36E384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Tuning não vira automático, mas a IA reduz o tempo de análise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A1E900-963A-45DB-820C-E408BC14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Ela ajuda a organizar hipóteses, interpretar sinais e sugerir verificações com muito mais velocidade.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16FBF-3532-4B2F-83D2-857E60DE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059BB-81E1-469A-A2C1-5B213E1F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FC8BB-A431-40CD-9631-202EC83E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2C3E98-ACA9-4F86-8523-1955D86C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D683C7-9D28-43B3-84BC-70856797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487008-02AA-47DD-B2C1-F3E23E1A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D7C582-7477-4CCD-B89B-DE7D07BA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Hipóteses mais rápidas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0F5C0F-8ED7-437D-A1C0-6794550A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Aponta suspeitas em shuffle,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skew, joins, merge,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partições e storage layout.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4BA923-76E6-499E-8A7D-B5F5EFD1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69DFD1-A1BF-4895-96A0-BF260C56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90CED4-07B2-4DA8-9450-1FE0CE0F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078D06-BD88-48F9-AFFA-31C4C481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321F6C-C5C3-4F71-AC14-05A139BB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56AC99-48D1-4B3B-9B8D-5BD0C98E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FED34D-B9ED-47E0-9298-8C9F2357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Checklist técnico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380F9B-91BF-4646-A73B-BAE69762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Lembra explain plan, tamanho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 arquivo, cardinalidade,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repartition e estratégia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incremental.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F6D1F2-4F72-4A1C-AF46-D9BBAA1E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6B812C-B400-4DF5-994B-1D741D56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B3D04A-4905-4EB6-8EB7-E7216FAA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00E9C5-4D21-4063-8437-8A1EBC4F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D53B41-D80E-459F-B5BA-18F3FE1D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CDFC77-E08A-485E-8AB1-2163DCDB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5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B82C7D-09AC-4A86-AB61-51253195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Comparação de opções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9A7320-670F-49E0-AB06-9C61538F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Ajuda a pesar ganho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esperado, custo e risco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antes de mexer em pipeline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crítica.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E9594D-4C16-413E-B2F5-28C6EE53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8325236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873CF6-E5F9-43C5-A7E8-72BD7372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CD84A-8F8C-4B20-A8E3-7AD43E4B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B8683-F147-46CD-96A4-E232E8E0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38412-526D-4ADC-88E7-78243EAE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0397F-B7A4-4BD0-95B8-E71884BB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E8D19-1A91-42E6-B282-0AE3103A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AED2D-2B4D-426B-B69F-566F6257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E910C-F140-47BF-96CA-671C909E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BE9E7-A553-478D-BACF-48249C5A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FEB08-1CA8-49C2-A956-6E5B0D7F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E54540-9E23-4BB1-B48A-10F63821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2B0F0-F1FB-4D59-A03D-C9A1D536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a42e3caf4477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6623B-7848-4CF4-B0DB-B778F6DD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07E05-256E-4EDA-90AD-35BAF510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CUSTO, RISCO E CONTROLE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410D9-1A62-4ABE-A25B-4CD595A0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27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2DB21-053D-4339-BC77-1BF77CCB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8DFF2-F46D-420C-A72F-C3F2DFE7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F3AD06-EA0B-440D-9CDB-4AE1F830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Ganho real exige entender também o custo e o risco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50CFED-DB06-43CC-B9AA-13B80F8A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Usar IA sem clareza sobre custo operacional e pontos de falha é trocar um problema por outro.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8A8CD7-33FF-4AA4-902B-ECA0E5CA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EF9B42-C752-40FE-8C01-5E779BEA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50079B-2996-471E-A2C4-8D06E4E9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D63706-F5A6-4E17-AC52-35549AD5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413439-C431-4732-AA04-1DA6CD3C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CD8993-822B-42A3-9ACC-DCB6DEE9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AFA0F4-6C48-4CF9-B2D6-A6770D6A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Custo de uso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6E0335-30B1-4CDF-8E24-A07659E8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Claude cobra por token.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Contexto longo, agentes em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loop e reprocessamento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aumentam o custo. Medir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desde o piloto.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539AD1-67D3-4BDD-BF3B-BB85C9AF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578566-F831-4092-BB0A-374064E4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C7E1F4-DA07-439D-ABFD-A87E76F7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726566-07F6-44FB-B1D2-D82FD89B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C3D02B-2050-4E3E-B7F5-0EA109F3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C9B986-2A89-4354-99A0-3F5BAC89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FBB545-67A5-47D7-9147-276801BE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Risco de erro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28DC00-AD6A-47C4-B713-85E86476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Claude pode gerar código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plausível mas incorreto.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Review humano continua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obrigatório, especialmente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em schemas novos.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0234EA-EAB4-4F2C-9C87-E1EF742A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BFB6F8-4F50-4DC3-AE92-9C1354EE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494E08-7A63-4679-9EA1-E66BBEC9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23E683-E6A0-42CE-A12B-815952E5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0A6581-EAE6-4EBF-B753-18B5FBC2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4D90A9-794D-49C6-9F8C-3DEF37D2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5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057BA7-103A-4C70-BDE5-2EFC0272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Controle e rastreabilidade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5F0D5A-B971-47B0-8CBA-F89B0F86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Toda saída do Claude deve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passar por PR, checklist 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review antes de merge. IA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acelera; o engenheiro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decide.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637FCE-F239-4A66-8A17-233EB11D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16813102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3B9DCE-9889-448E-9976-1FD4DAC4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CAE5F-6C04-422B-A7EA-F0A51B8C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0F45C-17D7-47B9-B4EC-71520338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CCE0E-0280-4C87-805E-BD2503A9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BFF08-AFF2-4514-910C-3F805FAE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57DE6-7EC6-41B8-A4AF-528FBF09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1D6C5-17A3-4441-BEA8-E5A783BF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B7DE6-427A-4020-9146-4539112A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A89EF-2126-447E-90C7-4662E9BE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19B39-AF66-45D4-A361-8638BDFE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AB713-6A3F-4F76-BC90-C912D6B6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64654-B0CF-481C-9E0D-906A2552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458111af94c9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BC61E-819E-4FCC-A0BD-2A8A7FD7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DFF3D-CC2C-454F-8DCC-1394926E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REVIEW, QUALIDADE E DOCS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F29B7-2166-4B06-B899-28E4B82B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28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8854A-2C52-43CB-BB58-A7C613E4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B7617-6F5D-4CB2-B396-3C83AC7B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B7785A-FDFF-44D8-A520-0E3905D1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Boa parte do ganho vem do que normalmente fica para depois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B1B9BA-BFB1-4091-B87B-4D78C423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IA reduz o custo de fazer o que o time sabe que deveria fazer, mas muitas vezes posterga.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34A569-B90B-457F-986E-59DA8D1F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0C2B6A-F514-4DC5-9B63-3895C5B2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DB8E28-221E-4CB4-8DB7-382D7FA3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E6F665-0477-4D66-835D-469F5823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B1FEAC-45B5-430C-8664-E192EF5F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993DEB-8753-4D88-993A-B0A67FAC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8FE34F-F231-41C8-A3EE-CBCAB9FD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Qualidade e validação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BD8C22-7D67-4634-8715-1602A111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Acelera escrita de checks,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reconciliação, cenários de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teste e critério de aceite.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1A5F43-CF0B-470C-B94E-D3E45E0E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EE207E-D840-46AA-93BE-8919FD14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A95B4C-FDA9-41F1-B29A-A943692B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AEA54C-843C-44D0-B5BC-7BB0FA14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0B85CF-3380-4E49-AA92-1770D4B2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E7E97C-0DC2-4BCA-BC73-4E6BAD3F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298515-A75C-4B93-811D-60C68E72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Documentação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F9B7FF-C3EB-428D-A5A7-48DE2C56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Ajuda a manter runbooks,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notas de deploy, README 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contexto técnico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atualizados.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3E4004-D33A-40C3-B51A-06141A59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68761D-9DE1-4131-9BF2-AEFC68D7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AA6BE0-5CF6-482D-994B-868BEB65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73B596-D6CA-4FAB-B4C4-72E514C1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EA05A1-4873-4F53-91E8-2299E536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DFF7A7-C7F6-4DCC-BB11-4EEDB266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5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5AA719-EF87-40CE-A26E-E464C799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Code review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8B4EB7-2888-4CB3-8050-73E57343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Funciona como revisor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inicial para risco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operacional, regressão 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impacto downstream.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4FF255-A04F-403B-914E-8ED03328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11234777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4E972B-BB82-45FA-A7D2-1BBE17BA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0D214-81EF-4259-9CD4-DE06B4D1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1E0CB-A2C9-482A-94B0-E030D90D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97A23-77F2-46CE-AA28-FADDB5C9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A330E-62D8-468F-B0FD-435D71A5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A51BB-6757-4D46-A144-94D775B7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C98E9-9D55-4820-AC35-57583E39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BB064-92E0-488E-B337-3E95F0BE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19493-B51A-4DF2-9BD7-B2BEE6FF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F38FD-2A92-4E21-80D7-7C3F0030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95456-0558-4798-8C16-9A9FC8E8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10952-DF8E-4851-8FB1-B71B185D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3a3d774bd422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AFD73-203A-4FAC-95EB-36AA2DB0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6914D-FE9C-4AF7-BC90-2E0514DC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38200"/>
            <a:ext cx="2876550" cy="518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E2504-44BB-400C-8392-05319D91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SESSAO 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55885-DAB3-48DE-AD44-0975A2DE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29 / 38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8DAF3-43E0-43C0-996C-D4DA18D1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68628E-4750-4F8F-8B79-AD2999D2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C8A9E-531B-41CB-899B-095F05FB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AEA858-389F-4374-B684-19BE1CF0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19200"/>
            <a:ext cx="6724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Adocao, guardrails e piloto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23069-3A64-48CF-86C5-A12DDA3C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6496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Fechamos com a parte operacional: como usar vários agentes, medir ganho real e fazer um rollout seguro no time.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ECF9B7-81D6-489E-A791-9E86CFD9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1920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00" b="1">
                <a:solidFill>
                  <a:srgbClr val="F5EFE6">
                    <a:alpha val="54902"/>
                  </a:srgbClr>
                </a:solidFill>
              </a:defRPr>
            </a:pPr>
            <a:r>
              <a:rPr sz="7800" b="1">
                <a:solidFill>
                  <a:srgbClr val="F5EFE6">
                    <a:alpha val="54902"/>
                  </a:srgbClr>
                </a:solidFill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F6AC48-48EE-48A2-98F3-96BFE584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051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A138"/>
                </a:solidFill>
              </a:defRPr>
            </a:pPr>
            <a:r>
              <a:rPr sz="975" b="1">
                <a:solidFill>
                  <a:srgbClr val="D8A138"/>
                </a:solidFill>
              </a:rPr>
              <a:t>NESTA SESSÃO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6D38E9-EF8B-4F80-9930-A1DA74A6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099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C52568-5B5D-4514-AC04-66E491BC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242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Fluxo multiagente controlado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27004D-7CE4-4B50-A41D-69C940A7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862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8D2020-1A7F-496A-A680-15756B7F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005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Antipadrões e métricas certas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8DC8B4-BB50-47B9-B1DF-70825CAD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625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78C663-49D5-4B5B-A815-62D0C2E9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768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Rollout pequeno, medido e reversível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9527E0-0225-4DF8-B7A6-7591863A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34668190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1EAC41-4531-4777-B631-E4B99AF2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89643-4C8E-4A2B-98BC-FA90A4F3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DECB9-A531-4407-B7E0-B686D408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CA3F5-E918-4FCE-80F8-EE2AB286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D8E4F-21EF-458E-8F8C-C0F0B0CF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B2CB7-10CA-4B0C-8C76-77656F99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0EE0F-381F-4935-9220-9CC4B1DE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68E72-074D-4021-BEF8-8B1F3666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40017-2CB4-42F5-9AFE-5E3BBED5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0D967-23A8-4045-84F9-90EF8885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DCF63-C562-4850-8BEB-43DF0DD7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47167-B997-443E-BF00-D1B692B6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153fb70f9407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7E80E-01DB-468D-9585-47C92A80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B6748-9496-456A-B16C-DCF299FC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FLUXO MULTIAGENTE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C448A6-D1F5-4711-9301-D8DFCCA2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30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BA8B0-12F0-4D06-8AE7-3A61505C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23C934-CBC8-4EEA-B711-8A1D6C00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AD454-A41D-4F06-8383-4931E226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810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Exemplo de entrega quebrada por especialidade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9C0EAC-B519-4EB0-ADEC-268B2A15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Uma demanda real pode passar por vários agentes sem perder o contrato central da spec.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A7B7A-235F-4A9C-991D-1EFB8631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8255C6-EEE4-44EA-9C3B-8EEC1DEA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965BC5-DA47-4310-AC39-8C88EF7F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7AC85C-3F4F-4841-863C-DB1ABB26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Engenheiro + Claude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19AAD1-0245-47C8-9A6E-51DFEA67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Fecha ambiguidades 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produz a spec com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grain, checks 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aceite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82AAAB-A719-44E8-BDB0-DB497DED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6101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2051D7-2770-4986-844B-2176E1A0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91814E-A0F8-4A25-8BFC-B5C7D197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7103B4-CA39-4A49-B8F0-19436E80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1BE2A6-2270-4783-845F-D5B9DA6A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databricks-platform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09024F-1D4A-4977-B168-FC6BC41A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Cria bundle,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pipeline, SQL ou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PySpark no padrão do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repo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65C75C-A5AA-4924-8A75-9C7F113A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101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F0443D-0BD4-47F8-BE2C-DDABF079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BA9362-6E7C-48C2-B64D-16DFBCC3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10B188-BE49-4D55-AFDF-B5D27842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1D04D1-26B8-4F19-8AC2-7B184A12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api-backend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827EF4-2522-49FF-B13A-5BED4A6B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Expõe endpoints ou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serviços quando a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entrega precisa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consumo online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74DD1C-AFF6-414F-ACE2-67D4A533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6101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053465-78D6-4273-85DD-A30789C5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4E865F-4124-495E-BB46-E2702836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85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1CD8B3-69C3-4B3D-997E-879DB072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7C9BA5-B512-48CB-A67D-5E4166F9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spark-tuning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7759A3-C148-4547-8632-5A3AF5D6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Revisa custo 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performance antes de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promover para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produção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2FA7FD-7148-4244-9446-3DFF69C7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101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D165EF-867F-4154-B716-93E6777C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6FC916-4E9D-46FB-AF22-D2112A9D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D41176-3820-48AB-8E0C-5DE59071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F932A9-3825-42D6-9387-DEE7484C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data-quality-reviewer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1EBD98-A3B8-422E-AD2B-53A1114F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Valida checks,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backfill e rollback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antes do merge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0979C5-C5D1-40E6-A895-782E54A8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119391735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B40778-A8AD-4386-B821-FB9B6F2C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35703-6C13-41EE-8DBE-5A97368E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7815F-077F-46E8-AE8D-088D1AEE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31E65-6501-4C8E-808B-DE11C605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A575F-80F0-415F-8EBB-91D4DF0E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3443B-59F4-4E0F-A715-5FC3D7E0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5579B-0485-487F-AD5C-7AB2F962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21819-FF9A-4F7D-9F28-CEE00241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B5C82-8B4D-4B80-B597-9A36689D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08E22-7A74-4C8C-A59E-388622EB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35D1A-E86B-422B-8AE0-DE7D5A80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AA3AB9-ECC6-47E4-BA3F-F734E4D2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deff095324f1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B8693-7D1C-4171-886B-202D2EF9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5D02B-FED4-460F-8D62-9562840B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REGRAS PRATICAS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4FFB8-7455-402A-AF62-D0425325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31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FE800-08E2-4559-968F-08CB932B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CA2178-16DF-48D5-AFDF-143FE51E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C37CC-3846-4391-B79C-18A31810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Não transforme agentes em bagunça automatizada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30A663-41E0-4E79-9EAC-6BFF60DA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Produtividade com IA em dados exige recorte claro de responsabilidade e guardrails simples.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67A15-A963-427B-A99B-B223087A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8DECC8-EE4E-4F76-88D5-EEB88BD4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53AAE7-BDF2-4B78-B19C-159CA237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C34EB9-683F-4175-8D6D-C045402D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7D9E49-744E-4D64-BF18-A37AA09D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D2E1C3-AEB9-4DEE-BC11-76AA03DC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9FFD78-6961-40CE-A322-07301794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Um agente, um foco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DFE7DA-D2A9-4516-BACD-46B0DB77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Evite agentes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enciclopédicos. O ganho vem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 responsabilidade nítida 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descrição específica.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B16C9D-65D9-4F50-BDA8-58705847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A1E435-2416-4C2F-937B-76FE3BE5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8CD99F-6C2E-492A-B5C2-080DBA7E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0016AB-8686-4CA3-84AA-F2DE81C7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F764B8-7CE7-49DC-A7B1-15AD0016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9DC4E8-5EFF-40CC-B556-862B264C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7C0F50-C9E0-4A40-81EE-43F9A741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Ferramentas mínimas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705539-B4A7-4D03-8EB7-BE1CB27B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Dê ao agente apenas o que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ele precisa. Isso melhora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segurança, foco 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previsibilidade.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EDD52A-693C-4708-A7B3-D2035D99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094E71-6292-4131-80C6-C8DC60FD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BE5F3E-3E81-4768-BE86-C56A28D5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0CFD19-C452-480F-955B-05453124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820393-18FF-44DE-B163-524BB6F5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9294C2-9D7A-4212-B8B9-0AE4B3A7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5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BF4591-4DD1-4CD3-97CC-5660FBDB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Tudo volta para a spec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08A7D4-8C17-4C90-8AEA-17605AC2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Mesmo com vários agentes,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validação, riscos, backfill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 rollback continuam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obrigatórios.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F2DC0F-804A-4665-A972-D478CB6B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58346928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3428B8-160F-4143-901F-188FD38E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A15A0-85C2-4423-9C32-58A5D303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2AEF7-10D3-48CF-A9A1-F3AD4D98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2D7E2-3FC0-41B2-AD64-F0D7FA9E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AFAF7-FA78-408A-A4B4-DD6B1D9A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45CB8-CD12-452A-8EA5-2A50CA1D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B7924-4105-44D9-A0F0-2A304468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E2F2F-A82F-4B0E-8855-24783E36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04DD9-59C9-4C32-A1C8-6175CD44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B2D98-5F70-40DC-A3C3-8614B5D1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46255-08F6-42D2-85D4-292F86D3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BD003-27D3-4FD4-9BF0-DF90B25F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db9eb2989487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C79BA-9CF7-48B4-96A9-6A1C1CBE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4D980-D914-4D7B-BDA8-D7AA9E24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ANTIPADROES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04411-EA86-4A29-BBCB-96BCE935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32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3C690-4BDC-422B-8B1C-E4E6801E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93FDAE-5FE7-446E-BC86-55087630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BAF1B-C9A6-48E5-B8DE-0F16B314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Os erros mais comuns quando um time começa a usar 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2A060-ABCE-42EB-8345-0FEBC63D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Quase todos os fracassos iniciais vêm de falta de processo, não de falta de modelo.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4F6F32-73B0-4B9B-999B-4B3C3E76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3EDDC6-F873-4724-BF60-74888694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464D1D-35A9-4CAD-AC5B-899979FE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5A7A1-A33E-4981-8D37-CD4C7DB9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041CED-B07C-4CEF-AD58-8154EFC8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1439F2-9AEB-4139-A70C-3AF77C0C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4357D3-5E1B-489E-8DA8-2D812815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Pedir código sem contexto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98FE05-93A2-4AE9-A46A-7B04A6DC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Sem spec, o time recebe uma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resposta aparentemente boa,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mas com risco alto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escondido.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C85319-0F78-400F-B1CA-2D6DB8A0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A00C37-9C4D-4D10-8768-B801A29A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4880E8-D918-452C-AA99-E8259CBF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86F77D-01CA-403D-8186-E87B38BF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36912E-410C-4239-B800-0924CCCB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222425-AAF2-4939-B98D-3C5CB869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E94A38-98A9-4F05-8C6C-B098E3EE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Delegar tudo para um agente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0436EB-9396-4942-8961-98A6BD03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Generalismo demais polui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contexto e reduz a qualidade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técnica da saída.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119C40-CB24-4CC1-9187-753E73D4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FA050E-4D49-4988-B612-ED3AAA05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91ADAD-D0DD-49ED-A33E-A35B904B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56D1FB-5E2D-41CE-97A1-0D0D428A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955F86-B9C4-4235-A1C3-BF0CB6B7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E6463C-182D-4BD4-AB8C-8C99AF8D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5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BC37C4-8438-4AB9-A2D6-8B7D01CB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Não medir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EE5194-EBA4-4EBE-B597-3294C1A1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Sem baseline, qualquer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sensação de ganho ou perda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vira opinião em vez de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evidência.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46B49C-4C4D-4742-88A6-29E4BCEE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194376068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D3B85E-4B38-456F-94F6-26794121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57A0C-F3CE-437C-8D58-F3B9B4C3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B45EC-EE81-4E12-9F74-9483EF81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473E6-CD03-434C-8E01-E7602E2E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8B6E1-8158-4713-B5CE-1CC77E36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69C07-1907-4FCE-8BF0-9D1466AA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8BBD9-C77D-4FAB-9716-06CEA7D3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7F57A-AB93-49FB-A47F-4F0E1975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0B9DA-0355-4E6F-AF39-7B44E256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026B8-E852-4A57-A904-5B82A2E2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9D736-0067-4DF9-9768-65EEF8DE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784E0-16E1-4F39-9CCA-94C8E810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e10391826442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EBD0E-D5F7-4FDD-826D-B11E21E5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AFA52-6CC7-4D1F-967C-D8BFEA58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COMO MEDIR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EA321-86B0-4FA5-BD7B-AE7F70DF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33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7A98F-8EC1-4C5E-99CF-BC2EFADC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EBD517-A40B-4DF5-BBC7-4FF33AD6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D8094E-6CDD-4088-87DD-BE07CC37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Produtividade precisa ser medida em fluxo, qualidade e operação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4E4DD8-76AB-4B47-B20C-0CB5B7B7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Baseline via GitLab ou Jira antes do piloto. Medir as mesmas entregas com e sem IA por pelo menos 2 semanas.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EF9FC6-7449-4FCD-980F-72C798E6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31432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958E6B-7D7E-422F-BEE2-302F087D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2979A6-0011-4AFD-B088-70355F4D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Lead 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BD574A-4B63-4CB1-B06E-603E00D9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Demanda ao merge — coletar via GitLab MR open/close 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ADDA7B-9924-4920-8836-4F1EB1F9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baseline: média das últimas 10 entregas similares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1C915D-9BB4-4F2E-A210-F7FB6AE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14750"/>
            <a:ext cx="31432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316A0F-285C-482C-84F6-3DF48519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147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1EEA59-A3D8-4845-8F3B-9110C187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433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Retrabalho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15CCCC-4939-4977-98CE-F16C2A52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95800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MRs reabertos ou com mais de 2 rounds de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C254E3-7320-4E71-A754-CC5F732C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006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baseline: % de MRs com comentários de correção obrigatórios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F03243-7DD9-4F2C-BED5-37C792A6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31432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8BEE5E-3F14-44E1-A708-C2562B65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D43938-923F-4C1C-B8F2-C7FB6A77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433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Incidentes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7A09E6-E232-49A7-A792-A3401985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95800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Falhas pós-deploy: rollback, alerta ou quebra downstream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4D5141-AACA-436A-8111-FF4EAB32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006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baseline: incidentes por sprint nas últimas 4 sprints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D8F390-DD0E-4C95-816E-DD62ECBA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30837645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5A29AE-44D8-4DDA-BC30-34BE4DB7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174E7-DBCC-43E1-B00F-DB691145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CB2ED-A80C-41C2-8D72-E62F549B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88A93-8A1E-486F-93DD-452804D1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C1DE6-BA13-4E17-8623-07E91674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6F274-B784-461D-B851-A753D14B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87951-108F-4AA1-846A-626DBFC8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8C6A9-E7B7-455D-99C9-D94B8469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E8931-F0B3-4684-AF88-2C22384E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AEB98-AA09-42CC-90E8-B3B8A0F2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5DAB3-E074-478B-9D12-E34C4C8C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C79AA-5BA9-48B1-BD19-9DAC96F8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cd9964cf344a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A316F-F45F-4C4C-8FB5-C67EF8A8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E86C3-913D-4D52-9274-6F71959C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LIMITACOES DO CLAUDE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F56B9-02EB-4DDF-B41B-434B3911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34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6CDF7-3979-4D27-8B8A-1F07B43B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478E93-DE2A-4FC7-BFE5-5459D588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8F3B6-BEEC-44E9-8274-5D887732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IA erra. Saber onde evita surpresa em produção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B1E98A-6147-42CA-AA5C-4F7A29A4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Reconhecer os limites não enfraquece a proposta — mostra que a adoção está sendo pensada com seriedade.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4D839-B9A6-4137-9982-098322AA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082103-D9AF-4E16-8624-90648307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EEBF57-290F-4354-8A32-D1FCB2D4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70BD7-5E38-4944-8379-741A5211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1420D-20A7-49A5-9F22-6BAD90A3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A36515-E55E-4444-A0A0-AF797EB5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14F72F-F149-443B-B85E-DBD09414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Schemas desconhecidos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901101-97E9-4564-A9DE-8E6878DE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Sem CLAUDE.md ou spec,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Claude inventa campos, tipos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 nomes plausíveis mas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incorretos. Contexto é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obrigatório.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C0A118-442F-45D9-9623-F73D02B9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C47803-24A2-4AB9-8499-42085F9A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D4E074-9AE7-48F2-8B68-CDD02F9E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6388D8-C70A-40C0-A75E-6621906A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EDB0A2-A437-486B-8EEF-36DE5E58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299221-00ED-4DE6-8952-6D88A78A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BB1168-A392-43C6-B03A-915AD840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Lógica de negócio complexa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0FBC5D-71AB-4BB8-A7AD-E01D1929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Regras de reconciliação,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late data e SLA dependem de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decisão humana. Claude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sugere; o engenheiro valida.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C72883-01C3-4A2F-B46E-0C6F3EB5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C8D29F-FDB2-428C-88EB-96118A78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1D9D6E-6F0D-47B1-9F08-C6D86B11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280AE9-C943-4376-9A04-CD516B3C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772BE4-CDC6-4935-A5F0-FB3CB1B8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AA8F66-F919-4437-BB40-CCF20096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5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706FCE-0EC1-4FAC-B43E-F744A376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Contexto muito longo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7AAE4B-4616-4536-9234-3FB75DAF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339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Acima de certo volume de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contexto, a qualidade da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resposta cai. Agentes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especializados existem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exatamente para isso.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A4AF3D-B7C5-4416-8781-69C5F348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59541414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853C5A-9BB7-4F78-9039-66D2DC05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3CAD3-082E-4081-933A-E7096AF7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D55F0-7FE6-4A11-8BB5-49706AE9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97807-C27D-447A-BA51-84F49C0B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ECEFB-8C35-49D5-83FE-CFB41375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5FD99-636D-4083-8624-DB2C8BB1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99792-1863-4A7C-BC83-A275DD1E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0C77D-38A3-4F18-B5B8-37FC60FC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210F4-A23C-4096-ADAF-0D2B8F44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E109B-E57B-4454-8821-43727E29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89505-CD2B-4453-8A06-4C6ED4BB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4AE28-73EF-4847-A934-07FC8BD0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44e89137b438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12824-4FF0-4095-A7C8-606640DE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29134-C6B6-4673-8553-7D98E215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ROLL 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9FE37-CCFA-4596-9608-D7DA8532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35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1AB89-6F9F-4542-9624-773E6121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29435B-46AC-4880-9E25-5288C3D4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CACAEE-58A6-4033-A4BF-3EEC79B0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810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Um rollout bom começa pequeno e cresce por evidências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411D0-4219-4FD8-8C38-8DDE0E31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A pior forma de adotar IA é tentar mudar o time inteiro ao mesmo tempo e sem guardrails.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EAACE-2969-4FB5-9773-CACFEF81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145A62-BB69-482F-945C-CAF1AB23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CF2105-126D-4479-817B-BF04C3A1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03AB43-D971-4C3A-AD64-2E317B88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Escolher caso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CCF05F-EB29-456B-84FE-E6A23816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Selecionar uma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entrega com dor real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e escopo controlado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D818C4-490F-4443-B540-11DF9BA1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6101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7A6123-93E1-486F-AD80-0F159CD4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E91002-0E2B-434F-9CF6-4053C5A6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07693A-98AC-40E3-92C2-292FB3AC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FD360E-F7B2-43AB-8F9D-16500234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Fixar artefatos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A61D3E-81DA-4C0E-836D-A1F3989C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CLAUDE.md, spec,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checklist e agentes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mínimos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2C155A-2FE7-4CA3-ABD0-FF344FC5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101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EA963B-1064-4B84-B923-605F6BBE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839414-4477-400C-B43D-3095D58E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713B03-63F0-4DE2-8AE0-3F381441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FC70BE-48E8-407A-8373-9752DE19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Executar piloto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7FA7D1-9A31-4731-B530-6CA7A2B5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Rodar uma janela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curta com comparação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de fluxo anterior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F9C9B3-3D51-45A4-AD69-E09CD938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6101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51B276-31EC-482B-96B2-C3EA829D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E0326C-86D1-429B-8C17-8E94FED8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85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879922-1981-446F-803F-623FBC8E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546E44-D984-4AC8-ABF0-8EB5E155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Medir resultado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3819C8-8250-4F51-BBCB-CEA1E4D7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Lead time,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retrabalho,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incidentes 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satisfação do time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B01934-6084-4DEB-91FD-3EDFBB8A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101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E489A9-234A-4198-9E15-AB52F042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33800"/>
            <a:ext cx="19907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D8207C-E030-4715-9869-89877932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31B8B7-F20B-42D7-86F5-8D411846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81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E47175-2241-47C1-8F3E-7562BCE4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05250"/>
            <a:ext cx="117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381E"/>
                </a:solidFill>
              </a:defRPr>
            </a:pPr>
            <a:r>
              <a:rPr sz="1125" b="1">
                <a:solidFill>
                  <a:srgbClr val="A3381E"/>
                </a:solidFill>
              </a:rPr>
              <a:t>Padronizar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31D7F9-C0E9-41F1-A4EB-A4D8D367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00550"/>
            <a:ext cx="1609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Expandir apenas o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que realmente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melhorou com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segurança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2B27F8-D527-48F0-9FD9-B4B509E1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44790255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E2E384-514F-4A8D-8A4A-26976761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41089-9AD0-4258-B9C0-A3653B95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5CD4B-A89A-4817-83A1-9AEE60FA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C3180-B531-4DBB-BD1D-76C15F73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33D69-162D-4AE1-A985-0CEFD625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9A80E-CA15-4413-9B80-F5B473E0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F1E5D-BA4F-4683-B880-8980257B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3C537-0510-4C40-B4BC-0D10CF57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F00D4-38C3-414C-89F8-2939CA9E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E513C-42C7-4366-B8C4-506CD211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4B458-3944-424B-9425-78695DBE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6565B-556C-42D9-A6E5-AAF5C518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b876f6bae4b3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65346-5A94-40A7-B37D-0F513E42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8AEC1-7DBF-441D-B747-8BAAD0DD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PILOTO PROPOSTO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8576B-227E-4421-95AE-62CA79EF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36 / 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AEEAB-5845-4DDB-82EA-F75C1158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AF7153-F281-4318-B2F2-20DA0A65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A4217-92A2-4B53-9C8C-60D630DC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Próxima etapa: um piloto pequeno, medido e reversível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D98CDE-215A-4633-B408-9B637098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A melhor forma de convencer o time é provar em um fluxo real, com critérios objetivos.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3C320E-F87C-4267-B31C-1BD05DF9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31432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C248C0-5D04-47F6-B232-3303F126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B15CF9-5ACF-4110-8123-DE688DB7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3A39AF-1832-4B88-8315-0EFC5B27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Caso piloto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26A4F2-EF40-4F84-A131-E2B17D5C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preferir uma silver ou gold com dor real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7FD361-B489-42DF-B76E-D1AF1B97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14750"/>
            <a:ext cx="31432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C618C4-AB54-4932-84B4-666A57C0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147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FC4805-3F68-443B-8C8F-E8244B8D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433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3D929E-E791-43A7-85CC-ADB4B552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95800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Artefatos base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7FFE5A-EF2C-49F7-A55A-A0E39EDD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006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CLAUDE.md, spec, checklist e agentes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64ED95-C392-481C-BBB9-AC515762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31432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5EFE6">
              <a:alpha val="94902"/>
            </a:srgbClr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A702C8-F674-4109-95C3-512E91DB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C49D15-5740-438D-8DC5-883F6E2D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433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2 sem.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9E588E-10A1-45B0-A2F0-353606C2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95800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Janela inicial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CB4B56-5763-42A9-BBB7-28567F3D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006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medir lead time, retrabalho e incidentes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687714-1290-4CC5-8312-3030F589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205692659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5F2FB7-4200-40DC-86C7-C0777291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69790-BA2A-4CA5-B784-65C8D908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A89B4-1360-45DC-BD74-E47B82AA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3AA34-59A1-4A42-BAA3-BB7D92D7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61345-E02B-42F8-8AB1-7D6A4D7E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F435A-2FAF-4A5C-99DC-A296E490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1F903-9215-48DF-B918-C76F2BEC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CE776-34FB-4351-A6E7-C5C14582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B26E9-70AD-4119-9CB6-41007816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EDB8B-1F1D-4F30-ADCE-33B36674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B6D3C-C731-475D-8C44-AD0FBDAC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2FD21-2C98-46C0-9C9C-9F43F6C6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4d4c416714bb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D07DA-55C7-4C9D-9971-272751CB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7EE47-82E0-4C33-9C15-0A464309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38200"/>
            <a:ext cx="2876550" cy="518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14111-F49F-4A74-AF20-F2C52EA0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FECHAMENTO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7551E-0841-4231-851A-2B1B1369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37 / 38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7FF7D4-63D5-4277-891B-2B86B6E6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E4594-94E6-46A7-A13C-D72C74A7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D44E4-1B21-420A-9700-E8E9DFE5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3CF37C-FFAF-4725-966C-24CDA68C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19200"/>
            <a:ext cx="6724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Qual caso real faz mais sentido para começar?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7CCEE-3979-41F1-B2DB-C69FB97F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6496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Não estamos propondo IA sem controle. Estamos propondo um jeito melhor de transformar demanda em entrega.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C8D105-341A-4212-87E6-6AD8A02F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1920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00" b="1">
                <a:solidFill>
                  <a:srgbClr val="F5EFE6">
                    <a:alpha val="54902"/>
                  </a:srgbClr>
                </a:solidFill>
              </a:defRPr>
            </a:pPr>
            <a:r>
              <a:rPr sz="7800" b="1">
                <a:solidFill>
                  <a:srgbClr val="F5EFE6">
                    <a:alpha val="54902"/>
                  </a:srgbClr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A48FE3-4F3C-4C92-95A1-0AEF64B2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051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A138"/>
                </a:solidFill>
              </a:defRPr>
            </a:pPr>
            <a:r>
              <a:rPr sz="975" b="1">
                <a:solidFill>
                  <a:srgbClr val="D8A138"/>
                </a:solidFill>
              </a:rPr>
              <a:t>NESTA SESSÃO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4D78D8-8EB0-426D-A4DD-5C1CDDF4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099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ECF4E4-52FF-4983-ADD2-BE8AC55E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242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Artefatos disponíveis em /artefatos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7BA9B-F1FC-4F30-8878-D82E346D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862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F4304A-06F2-45F0-BEE2-D967B023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005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CLAUDE.md, spec-template, checklist-pr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87CA4-01D1-444A-B311-6F06D8B5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625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E1FE6A-DB94-43D6-8C1D-E77D6677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768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Agentes prontos em .claude/agents/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E6FB09-4413-4D59-AECD-D8E53552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18946581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6CDE4C-A3CD-4550-9ECC-0A95E6E4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586BD-D2AD-43FD-9C2A-4315D966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E037C-730A-46E1-84BA-453ACB41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86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35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026FB-A7E0-47CD-AA03-613339D7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7B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296AB-6AE0-4B9C-888D-F5C57EA7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628900" cy="3390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03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FD250-9418-4725-9622-BA10FE30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DB419-D11B-4127-9B71-18F02A2C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6EBBF-6D7D-46CD-9E5A-401AF0DA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D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2AE03-7A01-499A-B7C3-9417DB8B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3800F-8319-4D9B-9790-3A41D56A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7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2B757-469A-4776-ABFF-8E1D420D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A09F8-6C8A-4D13-9B2E-F5877473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6b9fe1c7c426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C2CCC-F9DE-472E-8BFD-5BED3D95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91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>
              <a:alpha val="8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E7EAB-0F77-4188-9F4D-527C60E7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1E77F-88D5-412E-8049-A4B803BF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381E"/>
                </a:solidFill>
              </a:defRPr>
            </a:pPr>
            <a:r>
              <a:rPr sz="975" b="1">
                <a:solidFill>
                  <a:srgbClr val="A3381E"/>
                </a:solidFill>
              </a:rPr>
              <a:t>ENGENHARIA DE DADOS + 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3950F-C1F8-4476-8402-68275AEB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SDD com Claude para Engenharia de Dados no Databricks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9649DF-2585-4AC8-99D5-5ABC9E88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Reunião de alinhamento em 24 de abril de 2026. Como transformar pedidos vagos em especificações executáveis, com mais padrão, qualidade e velocidade.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A78C4-F2AA-45E1-A608-C91DAD1F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C6654-1F0B-4E9B-8A9E-6A5A333F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Spec primeiro. Código depois.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FEFDE-0F10-4EEE-94B7-915B8DA9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104900"/>
            <a:ext cx="2095500" cy="37909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55ED6D-A243-446A-8A12-A395DA76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097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138"/>
                </a:solidFill>
              </a:defRPr>
            </a:pPr>
            <a:r>
              <a:rPr sz="975" b="1">
                <a:solidFill>
                  <a:srgbClr val="D8A138"/>
                </a:solidFill>
              </a:rPr>
              <a:t>PILARES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FA0CA-1BC0-4781-81B6-55285131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859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67D28-407F-45C9-9FE6-D02028BB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431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Spec clara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2B8F04-426C-4F4B-B203-B986AE82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479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5316E1-280A-4336-9093-AFACC842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051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Código guiado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BC20D5-3131-48B1-A904-CE8C3688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099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FD1C54-CB81-4871-8D49-E114E22E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671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Operação prevista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C76D11-C1FF-4828-91A7-B5DB5544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SDD para dados: especificação, implementação, validação e operação no mesmo fluxo. Artefatos: /artefatos — CLAUDE.md, spec-template, checklist-pr, agentes.</a:t>
            </a:r>
          </a:p>
        </p:txBody>
      </p:sp>
    </p:spTree>
    <p:extLst>
      <p:ext uri="{BB962C8B-B14F-4D97-AF65-F5344CB8AC3E}">
        <p14:creationId xmlns:p14="http://schemas.microsoft.com/office/powerpoint/2010/main" val="2056176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2026-04-24T18:26:07.8610000Z</dcterms:created>
  <dcterms:modified xsi:type="dcterms:W3CDTF">2026-04-24T18:26:07.8610000Z</dcterms:modified>
</coreProperties>
</file>